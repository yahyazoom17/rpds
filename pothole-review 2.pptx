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notesSlides/notesSlide14.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400" b="0" u="none" strike="noStrike">
                <a:solidFill>
                  <a:srgbClr val="000000"/>
                </a:solidFill>
                <a:effectLst/>
                <a:uFillTx/>
                <a:latin typeface="Arial"/>
              </a:rPr>
              <a:t>Click to move the slide</a:t>
            </a:r>
            <a:endParaRPr lang="en-US" sz="1400" b="0" u="none" strike="noStrike">
              <a:solidFill>
                <a:srgbClr val="000000"/>
              </a:solidFill>
              <a:effectLst/>
              <a:uFillTx/>
              <a:latin typeface="Arial"/>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A835C325-A159-44BA-AA08-CABC161BE99D}"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685800" y="1143000"/>
            <a:ext cx="5484960" cy="3084840"/>
          </a:xfrm>
          <a:prstGeom prst="rect">
            <a:avLst/>
          </a:prstGeom>
          <a:ln w="0">
            <a:noFill/>
          </a:ln>
        </p:spPr>
      </p:sp>
      <p:sp>
        <p:nvSpPr>
          <p:cNvPr id="16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65" name="PlaceHolder 3"/>
          <p:cNvSpPr>
            <a:spLocks noGrp="1"/>
          </p:cNvSpPr>
          <p:nvPr>
            <p:ph type="sldNum" idx="4"/>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640F78EE-13F4-4156-93DA-738D2AF1159C}" type="slidenum">
              <a:rPr lang="en-US" sz="1200" b="0" u="none" strike="noStrike">
                <a:solidFill>
                  <a:schemeClr val="dk1"/>
                </a:solidFill>
                <a:effectLst/>
                <a:uFillTx/>
                <a:latin typeface="Arial"/>
                <a:ea typeface="Arial"/>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Img"/>
          </p:nvPr>
        </p:nvSpPr>
        <p:spPr>
          <a:xfrm>
            <a:off x="685800" y="1143000"/>
            <a:ext cx="5484960" cy="3084840"/>
          </a:xfrm>
          <a:prstGeom prst="rect">
            <a:avLst/>
          </a:prstGeom>
          <a:ln w="0">
            <a:noFill/>
          </a:ln>
        </p:spPr>
      </p:sp>
      <p:sp>
        <p:nvSpPr>
          <p:cNvPr id="16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68" name="PlaceHolder 3"/>
          <p:cNvSpPr>
            <a:spLocks noGrp="1"/>
          </p:cNvSpPr>
          <p:nvPr>
            <p:ph type="sldNum" idx="5"/>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046FE582-D768-4217-B443-253DE6854B6B}" type="slidenum">
              <a:rPr lang="en-US" sz="1200" b="0" u="none" strike="noStrike">
                <a:solidFill>
                  <a:schemeClr val="dk1"/>
                </a:solidFill>
                <a:effectLst/>
                <a:uFillTx/>
                <a:latin typeface="Arial"/>
                <a:ea typeface="Arial"/>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sldImg"/>
          </p:nvPr>
        </p:nvSpPr>
        <p:spPr>
          <a:xfrm>
            <a:off x="685800" y="1143000"/>
            <a:ext cx="5484960" cy="3084840"/>
          </a:xfrm>
          <a:prstGeom prst="rect">
            <a:avLst/>
          </a:prstGeom>
          <a:ln w="0">
            <a:noFill/>
          </a:ln>
        </p:spPr>
      </p:sp>
      <p:sp>
        <p:nvSpPr>
          <p:cNvPr id="17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71" name="PlaceHolder 3"/>
          <p:cNvSpPr>
            <a:spLocks noGrp="1"/>
          </p:cNvSpPr>
          <p:nvPr>
            <p:ph type="sldNum" idx="6"/>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31884515-2199-43EE-BBD5-569DFB4B6EA6}" type="slidenum">
              <a:rPr lang="en-US" sz="1200" b="0" u="none" strike="noStrike">
                <a:solidFill>
                  <a:schemeClr val="dk1"/>
                </a:solidFill>
                <a:effectLst/>
                <a:uFillTx/>
                <a:latin typeface="Arial"/>
                <a:ea typeface="Arial"/>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sldImg"/>
          </p:nvPr>
        </p:nvSpPr>
        <p:spPr>
          <a:xfrm>
            <a:off x="685800" y="1143000"/>
            <a:ext cx="5484960" cy="3084840"/>
          </a:xfrm>
          <a:prstGeom prst="rect">
            <a:avLst/>
          </a:prstGeom>
          <a:ln w="0">
            <a:noFill/>
          </a:ln>
        </p:spPr>
      </p:sp>
      <p:sp>
        <p:nvSpPr>
          <p:cNvPr id="17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74" name="PlaceHolder 3"/>
          <p:cNvSpPr>
            <a:spLocks noGrp="1"/>
          </p:cNvSpPr>
          <p:nvPr>
            <p:ph type="sldNum" idx="7"/>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598259CB-675C-40D0-AD1F-F368AFFF369F}" type="slidenum">
              <a:rPr lang="en-US" sz="1200" b="0" u="none" strike="noStrike">
                <a:solidFill>
                  <a:schemeClr val="dk1"/>
                </a:solidFill>
                <a:effectLst/>
                <a:uFillTx/>
                <a:latin typeface="Arial"/>
                <a:ea typeface="Arial"/>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sldImg"/>
          </p:nvPr>
        </p:nvSpPr>
        <p:spPr>
          <a:xfrm>
            <a:off x="685800" y="1143000"/>
            <a:ext cx="5484960" cy="3084840"/>
          </a:xfrm>
          <a:prstGeom prst="rect">
            <a:avLst/>
          </a:prstGeom>
          <a:ln w="0">
            <a:noFill/>
          </a:ln>
        </p:spPr>
      </p:sp>
      <p:sp>
        <p:nvSpPr>
          <p:cNvPr id="17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77" name="PlaceHolder 3"/>
          <p:cNvSpPr>
            <a:spLocks noGrp="1"/>
          </p:cNvSpPr>
          <p:nvPr>
            <p:ph type="sldNum" idx="8"/>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EDF6E08C-A9F0-4C13-AD14-A6F4AEBE8D8D}" type="slidenum">
              <a:rPr lang="en-US" sz="1200" b="0" u="none" strike="noStrike">
                <a:solidFill>
                  <a:schemeClr val="dk1"/>
                </a:solidFill>
                <a:effectLst/>
                <a:uFillTx/>
                <a:latin typeface="Arial"/>
                <a:ea typeface="Arial"/>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sldImg"/>
          </p:nvPr>
        </p:nvSpPr>
        <p:spPr>
          <a:xfrm>
            <a:off x="685800" y="1143000"/>
            <a:ext cx="5484960" cy="3084840"/>
          </a:xfrm>
          <a:prstGeom prst="rect">
            <a:avLst/>
          </a:prstGeom>
          <a:ln w="0">
            <a:noFill/>
          </a:ln>
        </p:spPr>
      </p:sp>
      <p:sp>
        <p:nvSpPr>
          <p:cNvPr id="17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80" name="PlaceHolder 3"/>
          <p:cNvSpPr>
            <a:spLocks noGrp="1"/>
          </p:cNvSpPr>
          <p:nvPr>
            <p:ph type="sldNum" idx="9"/>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4ADABFD6-5461-4E8E-83F8-3460FC4B5C44}" type="slidenum">
              <a:rPr lang="en-US" sz="1200" b="0" u="none" strike="noStrike">
                <a:solidFill>
                  <a:schemeClr val="dk1"/>
                </a:solidFill>
                <a:effectLst/>
                <a:uFillTx/>
                <a:latin typeface="Arial"/>
                <a:ea typeface="Arial"/>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Img"/>
          </p:nvPr>
        </p:nvSpPr>
        <p:spPr>
          <a:xfrm>
            <a:off x="685800" y="1143000"/>
            <a:ext cx="5484960" cy="3084840"/>
          </a:xfrm>
          <a:prstGeom prst="rect">
            <a:avLst/>
          </a:prstGeom>
          <a:ln w="0">
            <a:noFill/>
          </a:ln>
        </p:spPr>
      </p:sp>
      <p:sp>
        <p:nvSpPr>
          <p:cNvPr id="18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83" name="PlaceHolder 3"/>
          <p:cNvSpPr>
            <a:spLocks noGrp="1"/>
          </p:cNvSpPr>
          <p:nvPr>
            <p:ph type="sldNum" idx="10"/>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AFB98A3B-A1B4-48FD-ABAC-2E0448055A28}" type="slidenum">
              <a:rPr lang="en-US" sz="1200" b="0" u="none" strike="noStrike">
                <a:solidFill>
                  <a:schemeClr val="dk1"/>
                </a:solidFill>
                <a:effectLst/>
                <a:uFillTx/>
                <a:latin typeface="Arial"/>
                <a:ea typeface="Arial"/>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685800" y="1143000"/>
            <a:ext cx="5484960" cy="3084840"/>
          </a:xfrm>
          <a:prstGeom prst="rect">
            <a:avLst/>
          </a:prstGeom>
          <a:ln w="0">
            <a:noFill/>
          </a:ln>
        </p:spPr>
      </p:sp>
      <p:sp>
        <p:nvSpPr>
          <p:cNvPr id="18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86" name="PlaceHolder 3"/>
          <p:cNvSpPr>
            <a:spLocks noGrp="1"/>
          </p:cNvSpPr>
          <p:nvPr>
            <p:ph type="sldNum" idx="11"/>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A6ABD67C-FCE3-4113-9AFE-C6901769EF42}" type="slidenum">
              <a:rPr lang="en-US" sz="1200" b="0" u="none" strike="noStrike">
                <a:solidFill>
                  <a:schemeClr val="dk1"/>
                </a:solidFill>
                <a:effectLst/>
                <a:uFillTx/>
                <a:latin typeface="Arial"/>
                <a:ea typeface="Arial"/>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4960" cy="3084840"/>
          </a:xfrm>
          <a:prstGeom prst="rect">
            <a:avLst/>
          </a:prstGeom>
          <a:ln w="0">
            <a:noFill/>
          </a:ln>
        </p:spPr>
      </p:sp>
      <p:sp>
        <p:nvSpPr>
          <p:cNvPr id="188"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89" name="PlaceHolder 3"/>
          <p:cNvSpPr>
            <a:spLocks noGrp="1"/>
          </p:cNvSpPr>
          <p:nvPr>
            <p:ph type="sldNum" idx="12"/>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C9B3E646-16BA-40CF-A7EE-00725990DA0F}" type="slidenum">
              <a:rPr lang="en-US" sz="1200" b="0" u="none" strike="noStrike">
                <a:solidFill>
                  <a:schemeClr val="dk1"/>
                </a:solidFill>
                <a:effectLst/>
                <a:uFillTx/>
                <a:latin typeface="Arial"/>
                <a:ea typeface="Arial"/>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4960" cy="3084840"/>
          </a:xfrm>
          <a:prstGeom prst="rect">
            <a:avLst/>
          </a:prstGeom>
          <a:ln w="0">
            <a:noFill/>
          </a:ln>
        </p:spPr>
      </p:sp>
      <p:sp>
        <p:nvSpPr>
          <p:cNvPr id="19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92" name="PlaceHolder 3"/>
          <p:cNvSpPr>
            <a:spLocks noGrp="1"/>
          </p:cNvSpPr>
          <p:nvPr>
            <p:ph type="sldNum" idx="13"/>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6BDDC963-B079-4039-8B78-FF919599AD77}" type="slidenum">
              <a:rPr lang="en-US" sz="1200" b="0" u="none" strike="noStrike">
                <a:solidFill>
                  <a:schemeClr val="dk1"/>
                </a:solidFill>
                <a:effectLst/>
                <a:uFillTx/>
                <a:latin typeface="Arial"/>
                <a:ea typeface="Arial"/>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4960" cy="3084840"/>
          </a:xfrm>
          <a:prstGeom prst="rect">
            <a:avLst/>
          </a:prstGeom>
          <a:ln w="0">
            <a:noFill/>
          </a:ln>
        </p:spPr>
      </p:sp>
      <p:sp>
        <p:nvSpPr>
          <p:cNvPr id="19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95" name="PlaceHolder 3"/>
          <p:cNvSpPr>
            <a:spLocks noGrp="1"/>
          </p:cNvSpPr>
          <p:nvPr>
            <p:ph type="sldNum" idx="14"/>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19717DB2-D87E-4D11-9042-35DC1B694862}" type="slidenum">
              <a:rPr lang="en-US" sz="1200" b="0" u="none" strike="noStrike">
                <a:solidFill>
                  <a:schemeClr val="dk1"/>
                </a:solidFill>
                <a:effectLst/>
                <a:uFillTx/>
                <a:latin typeface="Arial"/>
                <a:ea typeface="Arial"/>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4960" cy="3084840"/>
          </a:xfrm>
          <a:prstGeom prst="rect">
            <a:avLst/>
          </a:prstGeom>
          <a:ln w="0">
            <a:noFill/>
          </a:ln>
        </p:spPr>
      </p:sp>
      <p:sp>
        <p:nvSpPr>
          <p:cNvPr id="19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98" name="PlaceHolder 3"/>
          <p:cNvSpPr>
            <a:spLocks noGrp="1"/>
          </p:cNvSpPr>
          <p:nvPr>
            <p:ph type="sldNum" idx="15"/>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D4721734-F653-45D6-AAA6-B9F78C9F3338}" type="slidenum">
              <a:rPr lang="en-US" sz="1200" b="0" u="none" strike="noStrike">
                <a:solidFill>
                  <a:schemeClr val="dk1"/>
                </a:solidFill>
                <a:effectLst/>
                <a:uFillTx/>
                <a:latin typeface="Arial"/>
                <a:ea typeface="Arial"/>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4960" cy="3084840"/>
          </a:xfrm>
          <a:prstGeom prst="rect">
            <a:avLst/>
          </a:prstGeom>
          <a:ln w="0">
            <a:noFill/>
          </a:ln>
        </p:spPr>
      </p:sp>
      <p:sp>
        <p:nvSpPr>
          <p:cNvPr id="20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01" name="PlaceHolder 3"/>
          <p:cNvSpPr>
            <a:spLocks noGrp="1"/>
          </p:cNvSpPr>
          <p:nvPr>
            <p:ph type="sldNum" idx="16"/>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9BD3B1C9-207C-460A-A3E4-D562054B6EDD}" type="slidenum">
              <a:rPr lang="en-US" sz="1200" b="0" u="none" strike="noStrike">
                <a:solidFill>
                  <a:schemeClr val="dk1"/>
                </a:solidFill>
                <a:effectLst/>
                <a:uFillTx/>
                <a:latin typeface="Arial"/>
                <a:ea typeface="Arial"/>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en-US" sz="1400" b="0" u="none" strike="noStrike">
                <a:solidFill>
                  <a:srgbClr val="000000"/>
                </a:solidFill>
                <a:effectLst/>
                <a:uFillTx/>
                <a:latin typeface="Arial"/>
              </a:defRPr>
            </a:lvl1pPr>
          </a:lstStyle>
          <a:p>
            <a:pPr indent="0" algn="l">
              <a:buNone/>
              <a:tabLst>
                <a:tab pos="0" algn="l"/>
              </a:tabLst>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slideLayout" Target="../slideLayouts/slideLayout1.xml"/><Relationship Id="rId6"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10" name="Google Shape;18;p3"/>
          <p:cNvSpPr/>
          <p:nvPr/>
        </p:nvSpPr>
        <p:spPr>
          <a:xfrm>
            <a:off x="472680" y="2104560"/>
            <a:ext cx="11245680" cy="10958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FFFFFF"/>
                </a:solidFill>
                <a:effectLst/>
                <a:uFillTx/>
                <a:latin typeface="Calibri"/>
                <a:ea typeface="Calibri"/>
              </a:rPr>
              <a:t>Sustainable Cities and Communities. Pot-Hole detection and possible remedies</a:t>
            </a:r>
            <a:endParaRPr lang="en-US" sz="3200" b="0" u="none" strike="noStrike">
              <a:solidFill>
                <a:srgbClr val="FFFFFF"/>
              </a:solidFill>
              <a:effectLst/>
              <a:uFillTx/>
              <a:latin typeface="Arial"/>
            </a:endParaRPr>
          </a:p>
        </p:txBody>
      </p:sp>
      <p:sp>
        <p:nvSpPr>
          <p:cNvPr id="11" name="Google Shape;19;p3"/>
          <p:cNvSpPr/>
          <p:nvPr/>
        </p:nvSpPr>
        <p:spPr>
          <a:xfrm>
            <a:off x="457200" y="3657600"/>
            <a:ext cx="11245680" cy="7300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2000" b="0" u="none" strike="noStrike">
                <a:solidFill>
                  <a:srgbClr val="FFFF00"/>
                </a:solidFill>
                <a:effectLst/>
                <a:uFillTx/>
                <a:latin typeface="Times New Roman"/>
                <a:ea typeface="Times New Roman"/>
              </a:rPr>
              <a:t>IoT + AI Based Smart Road Monitoring Device</a:t>
            </a:r>
            <a:endParaRPr lang="en-US" sz="2000" b="0" u="none" strike="noStrike">
              <a:solidFill>
                <a:srgbClr val="FFFFFF"/>
              </a:solidFill>
              <a:effectLst/>
              <a:uFillTx/>
              <a:latin typeface="Arial"/>
            </a:endParaRPr>
          </a:p>
        </p:txBody>
      </p:sp>
      <p:sp>
        <p:nvSpPr>
          <p:cNvPr id="12" name=""/>
          <p:cNvSpPr txBox="1"/>
          <p:nvPr/>
        </p:nvSpPr>
        <p:spPr>
          <a:xfrm>
            <a:off x="457200" y="5257800"/>
            <a:ext cx="4424760" cy="1114560"/>
          </a:xfrm>
          <a:prstGeom prst="rect">
            <a:avLst/>
          </a:prstGeom>
          <a:noFill/>
          <a:ln w="0">
            <a:noFill/>
          </a:ln>
        </p:spPr>
        <p:txBody>
          <a:bodyPr lIns="90000" tIns="45000" rIns="90000" bIns="45000" anchor="t">
            <a:spAutoFit/>
          </a:bodyPr>
          <a:p>
            <a:r>
              <a:rPr lang="en-US" sz="1800" b="0" u="none" strike="noStrike">
                <a:solidFill>
                  <a:srgbClr val="FFFFFF"/>
                </a:solidFill>
                <a:effectLst/>
                <a:uFillTx/>
                <a:latin typeface="Arial"/>
              </a:rPr>
              <a:t>Vignesh V - USN : 1VI25EC139</a:t>
            </a:r>
            <a:endParaRPr lang="en-US" sz="1800" b="0" u="none" strike="noStrike">
              <a:solidFill>
                <a:srgbClr val="FFFFFF"/>
              </a:solidFill>
              <a:effectLst/>
              <a:uFillTx/>
              <a:latin typeface="Arial"/>
            </a:endParaRPr>
          </a:p>
          <a:p>
            <a:r>
              <a:rPr lang="en-US" sz="1800" b="0" u="none" strike="noStrike">
                <a:solidFill>
                  <a:srgbClr val="FFFFFF"/>
                </a:solidFill>
                <a:effectLst/>
                <a:uFillTx/>
                <a:latin typeface="Arial"/>
              </a:rPr>
              <a:t>Yahya A - USN : 1VI25EC143</a:t>
            </a:r>
            <a:endParaRPr lang="en-US" sz="1800" b="0" u="none" strike="noStrike">
              <a:solidFill>
                <a:srgbClr val="FFFFFF"/>
              </a:solidFill>
              <a:effectLst/>
              <a:uFillTx/>
              <a:latin typeface="Arial"/>
            </a:endParaRPr>
          </a:p>
          <a:p>
            <a:r>
              <a:rPr lang="en-US" sz="1800" b="0" u="none" strike="noStrike">
                <a:solidFill>
                  <a:srgbClr val="FFFFFF"/>
                </a:solidFill>
                <a:effectLst/>
                <a:uFillTx/>
                <a:latin typeface="Arial"/>
              </a:rPr>
              <a:t>Vishal J - USN : 1VI25EC141</a:t>
            </a:r>
            <a:endParaRPr lang="en-US" sz="1800" b="0" u="none" strike="noStrike">
              <a:solidFill>
                <a:srgbClr val="FFFFFF"/>
              </a:solidFill>
              <a:effectLst/>
              <a:uFillTx/>
              <a:latin typeface="Arial"/>
            </a:endParaRPr>
          </a:p>
          <a:p>
            <a:r>
              <a:rPr lang="en-US" sz="1800" b="0" u="none" strike="noStrike">
                <a:solidFill>
                  <a:srgbClr val="FFFFFF"/>
                </a:solidFill>
                <a:effectLst/>
                <a:uFillTx/>
                <a:latin typeface="Arial"/>
              </a:rPr>
              <a:t>Zabiulla Namazkhan : USN : 1VI25EC147</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Google Shape;25;p4"/>
          <p:cNvSpPr/>
          <p:nvPr/>
        </p:nvSpPr>
        <p:spPr>
          <a:xfrm>
            <a:off x="457200" y="457200"/>
            <a:ext cx="11245680" cy="7300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The Obvious Problem</a:t>
            </a:r>
            <a:endParaRPr lang="en-US" sz="3200" b="0" u="none" strike="noStrike">
              <a:solidFill>
                <a:srgbClr val="000000"/>
              </a:solidFill>
              <a:effectLst/>
              <a:uFillTx/>
              <a:latin typeface="Arial"/>
            </a:endParaRPr>
          </a:p>
        </p:txBody>
      </p:sp>
      <p:sp>
        <p:nvSpPr>
          <p:cNvPr id="14" name="Google Shape;26;p4"/>
          <p:cNvSpPr/>
          <p:nvPr/>
        </p:nvSpPr>
        <p:spPr>
          <a:xfrm>
            <a:off x="457200" y="1188720"/>
            <a:ext cx="11245680" cy="4428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15" name="Google Shape;27;p4"/>
          <p:cNvSpPr/>
          <p:nvPr/>
        </p:nvSpPr>
        <p:spPr>
          <a:xfrm>
            <a:off x="731520" y="1828800"/>
            <a:ext cx="10514160" cy="547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800" b="0" u="none" strike="noStrike">
                <a:solidFill>
                  <a:srgbClr val="212529"/>
                </a:solidFill>
                <a:effectLst/>
                <a:uFillTx/>
                <a:latin typeface="Calibri"/>
                <a:ea typeface="Calibri"/>
              </a:rPr>
              <a:t>• Potholes pose serious safety risks to vehicles and road users</a:t>
            </a:r>
            <a:endParaRPr lang="en-US" sz="1800" b="0" u="none" strike="noStrike">
              <a:solidFill>
                <a:srgbClr val="000000"/>
              </a:solidFill>
              <a:effectLst/>
              <a:uFillTx/>
              <a:latin typeface="Arial"/>
            </a:endParaRPr>
          </a:p>
        </p:txBody>
      </p:sp>
      <p:sp>
        <p:nvSpPr>
          <p:cNvPr id="16" name="Google Shape;28;p4"/>
          <p:cNvSpPr/>
          <p:nvPr/>
        </p:nvSpPr>
        <p:spPr>
          <a:xfrm>
            <a:off x="731520" y="2468880"/>
            <a:ext cx="10514160" cy="547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800" b="0" u="none" strike="noStrike">
                <a:solidFill>
                  <a:srgbClr val="212529"/>
                </a:solidFill>
                <a:effectLst/>
                <a:uFillTx/>
                <a:latin typeface="Calibri"/>
                <a:ea typeface="Calibri"/>
              </a:rPr>
              <a:t>• Manual inspection is slow, costly, and difficult to scale</a:t>
            </a:r>
            <a:endParaRPr lang="en-US" sz="1800" b="0" u="none" strike="noStrike">
              <a:solidFill>
                <a:srgbClr val="000000"/>
              </a:solidFill>
              <a:effectLst/>
              <a:uFillTx/>
              <a:latin typeface="Arial"/>
            </a:endParaRPr>
          </a:p>
        </p:txBody>
      </p:sp>
      <p:sp>
        <p:nvSpPr>
          <p:cNvPr id="17" name="Google Shape;29;p4"/>
          <p:cNvSpPr/>
          <p:nvPr/>
        </p:nvSpPr>
        <p:spPr>
          <a:xfrm>
            <a:off x="731520" y="3108960"/>
            <a:ext cx="10514160" cy="547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800" b="0" u="none" strike="noStrike">
                <a:solidFill>
                  <a:srgbClr val="212529"/>
                </a:solidFill>
                <a:effectLst/>
                <a:uFillTx/>
                <a:latin typeface="Calibri"/>
                <a:ea typeface="Calibri"/>
              </a:rPr>
              <a:t>• Many potholes go unreported until accidents occur</a:t>
            </a:r>
            <a:endParaRPr lang="en-US" sz="1800" b="0" u="none" strike="noStrike">
              <a:solidFill>
                <a:srgbClr val="000000"/>
              </a:solidFill>
              <a:effectLst/>
              <a:uFillTx/>
              <a:latin typeface="Arial"/>
            </a:endParaRPr>
          </a:p>
        </p:txBody>
      </p:sp>
      <p:sp>
        <p:nvSpPr>
          <p:cNvPr id="18" name="Google Shape;30;p4"/>
          <p:cNvSpPr/>
          <p:nvPr/>
        </p:nvSpPr>
        <p:spPr>
          <a:xfrm>
            <a:off x="731520" y="3749040"/>
            <a:ext cx="10514160" cy="547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800" b="0" u="none" strike="noStrike">
                <a:solidFill>
                  <a:srgbClr val="212529"/>
                </a:solidFill>
                <a:effectLst/>
                <a:uFillTx/>
                <a:latin typeface="Calibri"/>
                <a:ea typeface="Calibri"/>
              </a:rPr>
              <a:t>• Need for automated, real-time road condition monitoring</a:t>
            </a:r>
            <a:endParaRPr lang="en-US" sz="1800" b="0" u="none" strike="noStrike">
              <a:solidFill>
                <a:srgbClr val="000000"/>
              </a:solidFill>
              <a:effectLst/>
              <a:uFillTx/>
              <a:latin typeface="Arial"/>
            </a:endParaRPr>
          </a:p>
        </p:txBody>
      </p:sp>
      <p:sp>
        <p:nvSpPr>
          <p:cNvPr id="19" name="Google Shape;31;p4"/>
          <p:cNvSpPr/>
          <p:nvPr/>
        </p:nvSpPr>
        <p:spPr>
          <a:xfrm>
            <a:off x="731520" y="4754880"/>
            <a:ext cx="10514160" cy="547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2200" b="1" u="none" strike="noStrike">
                <a:solidFill>
                  <a:srgbClr val="F96167"/>
                </a:solidFill>
                <a:effectLst/>
                <a:uFillTx/>
                <a:latin typeface="Calibri"/>
                <a:ea typeface="Calibri"/>
              </a:rPr>
              <a:t>Our Solution</a:t>
            </a:r>
            <a:endParaRPr lang="en-US" sz="2200" b="0" u="none" strike="noStrike">
              <a:solidFill>
                <a:srgbClr val="000000"/>
              </a:solidFill>
              <a:effectLst/>
              <a:uFillTx/>
              <a:latin typeface="Arial"/>
            </a:endParaRPr>
          </a:p>
        </p:txBody>
      </p:sp>
      <p:sp>
        <p:nvSpPr>
          <p:cNvPr id="20" name="Google Shape;32;p4"/>
          <p:cNvSpPr/>
          <p:nvPr/>
        </p:nvSpPr>
        <p:spPr>
          <a:xfrm>
            <a:off x="731520" y="5303520"/>
            <a:ext cx="10514160" cy="821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Build a low-cost system that automatically detects potholes, records their GPS coordinates, estimates their severity, and displays them on a digital map. </a:t>
            </a:r>
            <a:endParaRPr lang="en-US" sz="1600" b="0" u="none" strike="noStrike">
              <a:solidFill>
                <a:srgbClr val="000000"/>
              </a:solidFill>
              <a:effectLst/>
              <a:uFillTx/>
              <a:latin typeface="Arial"/>
            </a:endParaRPr>
          </a:p>
        </p:txBody>
      </p:sp>
      <p:pic>
        <p:nvPicPr>
          <p:cNvPr id="21" name="Google Shape;33;p4"/>
          <p:cNvPicPr/>
          <p:nvPr/>
        </p:nvPicPr>
        <p:blipFill>
          <a:blip r:embed="rId1"/>
          <a:stretch/>
        </p:blipFill>
        <p:spPr>
          <a:xfrm>
            <a:off x="6745680" y="1591920"/>
            <a:ext cx="4957200" cy="330696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Google Shape;39;p5"/>
          <p:cNvSpPr/>
          <p:nvPr/>
        </p:nvSpPr>
        <p:spPr>
          <a:xfrm>
            <a:off x="457200" y="457200"/>
            <a:ext cx="11245680" cy="7300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Primary Objectives of RPDS</a:t>
            </a:r>
            <a:endParaRPr lang="en-US" sz="3200" b="0" u="none" strike="noStrike">
              <a:solidFill>
                <a:srgbClr val="000000"/>
              </a:solidFill>
              <a:effectLst/>
              <a:uFillTx/>
              <a:latin typeface="Arial"/>
            </a:endParaRPr>
          </a:p>
        </p:txBody>
      </p:sp>
      <p:sp>
        <p:nvSpPr>
          <p:cNvPr id="23" name="Google Shape;40;p5"/>
          <p:cNvSpPr/>
          <p:nvPr/>
        </p:nvSpPr>
        <p:spPr>
          <a:xfrm>
            <a:off x="457200" y="1188720"/>
            <a:ext cx="11245680" cy="4428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24" name="Google Shape;41;p5"/>
          <p:cNvSpPr/>
          <p:nvPr/>
        </p:nvSpPr>
        <p:spPr>
          <a:xfrm>
            <a:off x="731520" y="1828800"/>
            <a:ext cx="105141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Detect potholes using vehicle vibration data (MPU6050)</a:t>
            </a:r>
            <a:endParaRPr lang="en-US" sz="1600" b="0" u="none" strike="noStrike">
              <a:solidFill>
                <a:srgbClr val="000000"/>
              </a:solidFill>
              <a:effectLst/>
              <a:uFillTx/>
              <a:latin typeface="Arial"/>
            </a:endParaRPr>
          </a:p>
        </p:txBody>
      </p:sp>
      <p:sp>
        <p:nvSpPr>
          <p:cNvPr id="25" name="Google Shape;42;p5"/>
          <p:cNvSpPr/>
          <p:nvPr/>
        </p:nvSpPr>
        <p:spPr>
          <a:xfrm>
            <a:off x="731520" y="2377440"/>
            <a:ext cx="105141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Capture precise location using GPS module</a:t>
            </a:r>
            <a:endParaRPr lang="en-US" sz="1600" b="0" u="none" strike="noStrike">
              <a:solidFill>
                <a:srgbClr val="000000"/>
              </a:solidFill>
              <a:effectLst/>
              <a:uFillTx/>
              <a:latin typeface="Arial"/>
            </a:endParaRPr>
          </a:p>
        </p:txBody>
      </p:sp>
      <p:sp>
        <p:nvSpPr>
          <p:cNvPr id="26" name="Google Shape;43;p5"/>
          <p:cNvSpPr/>
          <p:nvPr/>
        </p:nvSpPr>
        <p:spPr>
          <a:xfrm>
            <a:off x="731520" y="2926080"/>
            <a:ext cx="105141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Transmit detection events to backend server via Wi-Fi/4G</a:t>
            </a:r>
            <a:endParaRPr lang="en-US" sz="1600" b="0" u="none" strike="noStrike">
              <a:solidFill>
                <a:srgbClr val="000000"/>
              </a:solidFill>
              <a:effectLst/>
              <a:uFillTx/>
              <a:latin typeface="Arial"/>
            </a:endParaRPr>
          </a:p>
        </p:txBody>
      </p:sp>
      <p:sp>
        <p:nvSpPr>
          <p:cNvPr id="27" name="Google Shape;44;p5"/>
          <p:cNvSpPr/>
          <p:nvPr/>
        </p:nvSpPr>
        <p:spPr>
          <a:xfrm>
            <a:off x="731520" y="3474720"/>
            <a:ext cx="105141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Visualize pothole locations on interactive digital map</a:t>
            </a:r>
            <a:endParaRPr lang="en-US" sz="1600" b="0" u="none" strike="noStrike">
              <a:solidFill>
                <a:srgbClr val="000000"/>
              </a:solidFill>
              <a:effectLst/>
              <a:uFillTx/>
              <a:latin typeface="Arial"/>
            </a:endParaRPr>
          </a:p>
        </p:txBody>
      </p:sp>
      <p:sp>
        <p:nvSpPr>
          <p:cNvPr id="28" name="Google Shape;45;p5"/>
          <p:cNvSpPr/>
          <p:nvPr/>
        </p:nvSpPr>
        <p:spPr>
          <a:xfrm>
            <a:off x="731520" y="4023360"/>
            <a:ext cx="105141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Classify potholes by severity using ML techniques</a:t>
            </a:r>
            <a:endParaRPr lang="en-US" sz="1600" b="0" u="none" strike="noStrike">
              <a:solidFill>
                <a:srgbClr val="000000"/>
              </a:solidFill>
              <a:effectLst/>
              <a:uFillTx/>
              <a:latin typeface="Arial"/>
            </a:endParaRPr>
          </a:p>
        </p:txBody>
      </p:sp>
      <p:sp>
        <p:nvSpPr>
          <p:cNvPr id="29" name="Google Shape;46;p5"/>
          <p:cNvSpPr/>
          <p:nvPr/>
        </p:nvSpPr>
        <p:spPr>
          <a:xfrm>
            <a:off x="731520" y="4572000"/>
            <a:ext cx="105141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Reduce false detections through signal processing</a:t>
            </a:r>
            <a:endParaRPr lang="en-US" sz="1600" b="0" u="none" strike="noStrike">
              <a:solidFill>
                <a:srgbClr val="000000"/>
              </a:solidFill>
              <a:effectLst/>
              <a:uFillTx/>
              <a:latin typeface="Arial"/>
            </a:endParaRPr>
          </a:p>
        </p:txBody>
      </p:sp>
      <p:pic>
        <p:nvPicPr>
          <p:cNvPr id="30" name="Google Shape;47;p5"/>
          <p:cNvPicPr/>
          <p:nvPr/>
        </p:nvPicPr>
        <p:blipFill>
          <a:blip r:embed="rId1"/>
          <a:srcRect l="14395" t="0" r="22423" b="0"/>
          <a:stretch/>
        </p:blipFill>
        <p:spPr>
          <a:xfrm>
            <a:off x="5820120" y="1430640"/>
            <a:ext cx="5882760" cy="508356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Google Shape;53;p6"/>
          <p:cNvSpPr/>
          <p:nvPr/>
        </p:nvSpPr>
        <p:spPr>
          <a:xfrm>
            <a:off x="457200" y="457200"/>
            <a:ext cx="11245680" cy="7300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Basic Working Architecture</a:t>
            </a:r>
            <a:endParaRPr lang="en-US" sz="3200" b="0" u="none" strike="noStrike">
              <a:solidFill>
                <a:srgbClr val="000000"/>
              </a:solidFill>
              <a:effectLst/>
              <a:uFillTx/>
              <a:latin typeface="Arial"/>
            </a:endParaRPr>
          </a:p>
        </p:txBody>
      </p:sp>
      <p:sp>
        <p:nvSpPr>
          <p:cNvPr id="32" name="Google Shape;54;p6"/>
          <p:cNvSpPr/>
          <p:nvPr/>
        </p:nvSpPr>
        <p:spPr>
          <a:xfrm>
            <a:off x="457200" y="1188720"/>
            <a:ext cx="11245680" cy="4428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33" name="Google Shape;55;p6"/>
          <p:cNvSpPr/>
          <p:nvPr/>
        </p:nvSpPr>
        <p:spPr>
          <a:xfrm>
            <a:off x="731520" y="1453680"/>
            <a:ext cx="105141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Vehicle-mounted IoT system detects/identifies the abnormal vertical acceleration caused by road potholes and associates each detected event with its GPS location, sending the event to the backend server to process and visualize in map. </a:t>
            </a:r>
            <a:endParaRPr lang="en-US" sz="1400" b="0" u="none" strike="noStrike">
              <a:solidFill>
                <a:srgbClr val="000000"/>
              </a:solidFill>
              <a:effectLst/>
              <a:uFillTx/>
              <a:latin typeface="Arial"/>
            </a:endParaRPr>
          </a:p>
        </p:txBody>
      </p:sp>
      <p:sp>
        <p:nvSpPr>
          <p:cNvPr id="34" name="Google Shape;56;p6"/>
          <p:cNvSpPr/>
          <p:nvPr/>
        </p:nvSpPr>
        <p:spPr>
          <a:xfrm>
            <a:off x="1371600" y="2560320"/>
            <a:ext cx="1827360" cy="638640"/>
          </a:xfrm>
          <a:prstGeom prst="roundRect">
            <a:avLst>
              <a:gd name="adj" fmla="val 16667"/>
            </a:avLst>
          </a:prstGeom>
          <a:solidFill>
            <a:srgbClr val="F8F9FA"/>
          </a:solidFill>
          <a:ln w="12700">
            <a:solidFill>
              <a:srgbClr val="1E2761"/>
            </a:solidFill>
            <a:round/>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35" name="Google Shape;57;p6"/>
          <p:cNvSpPr/>
          <p:nvPr/>
        </p:nvSpPr>
        <p:spPr>
          <a:xfrm>
            <a:off x="1371960" y="2697480"/>
            <a:ext cx="1827360" cy="36432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300" b="1" u="none" strike="noStrike">
                <a:solidFill>
                  <a:srgbClr val="000000"/>
                </a:solidFill>
                <a:effectLst/>
                <a:uFillTx/>
                <a:latin typeface="Calibri"/>
                <a:ea typeface="Calibri"/>
              </a:rPr>
              <a:t>Vehicle</a:t>
            </a:r>
            <a:endParaRPr lang="en-US" sz="1300" b="0" u="none" strike="noStrike">
              <a:solidFill>
                <a:srgbClr val="000000"/>
              </a:solidFill>
              <a:effectLst/>
              <a:uFillTx/>
              <a:latin typeface="Arial"/>
            </a:endParaRPr>
          </a:p>
        </p:txBody>
      </p:sp>
      <p:cxnSp>
        <p:nvCxnSpPr>
          <p:cNvPr id="36" name="Google Shape;58;p6"/>
          <p:cNvCxnSpPr/>
          <p:nvPr/>
        </p:nvCxnSpPr>
        <p:spPr>
          <a:xfrm>
            <a:off x="3200400" y="2880360"/>
            <a:ext cx="458280" cy="1440"/>
          </a:xfrm>
          <a:prstGeom prst="straightConnector1">
            <a:avLst/>
          </a:prstGeom>
          <a:ln w="19050">
            <a:solidFill>
              <a:srgbClr val="1E2761"/>
            </a:solidFill>
            <a:round/>
            <a:headEnd len="med" type="stealth" w="med"/>
          </a:ln>
        </p:spPr>
      </p:cxnSp>
      <p:sp>
        <p:nvSpPr>
          <p:cNvPr id="37" name="Google Shape;59;p6"/>
          <p:cNvSpPr/>
          <p:nvPr/>
        </p:nvSpPr>
        <p:spPr>
          <a:xfrm>
            <a:off x="3657600" y="2560320"/>
            <a:ext cx="1827360" cy="638640"/>
          </a:xfrm>
          <a:prstGeom prst="roundRect">
            <a:avLst>
              <a:gd name="adj" fmla="val 16667"/>
            </a:avLst>
          </a:prstGeom>
          <a:solidFill>
            <a:srgbClr val="F8F9FA"/>
          </a:solidFill>
          <a:ln w="12700">
            <a:solidFill>
              <a:srgbClr val="1E2761"/>
            </a:solidFill>
            <a:round/>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38" name="Google Shape;60;p6"/>
          <p:cNvSpPr/>
          <p:nvPr/>
        </p:nvSpPr>
        <p:spPr>
          <a:xfrm>
            <a:off x="3657600" y="2697480"/>
            <a:ext cx="1827360" cy="36432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300" b="1" u="none" strike="noStrike">
                <a:solidFill>
                  <a:srgbClr val="000000"/>
                </a:solidFill>
                <a:effectLst/>
                <a:uFillTx/>
                <a:latin typeface="Calibri"/>
                <a:ea typeface="Calibri"/>
              </a:rPr>
              <a:t>Accelerometer</a:t>
            </a:r>
            <a:endParaRPr lang="en-US" sz="1300" b="0" u="none" strike="noStrike">
              <a:solidFill>
                <a:srgbClr val="000000"/>
              </a:solidFill>
              <a:effectLst/>
              <a:uFillTx/>
              <a:latin typeface="Arial"/>
            </a:endParaRPr>
          </a:p>
        </p:txBody>
      </p:sp>
      <p:cxnSp>
        <p:nvCxnSpPr>
          <p:cNvPr id="39" name="Google Shape;61;p6"/>
          <p:cNvCxnSpPr/>
          <p:nvPr/>
        </p:nvCxnSpPr>
        <p:spPr>
          <a:xfrm>
            <a:off x="5486400" y="2880360"/>
            <a:ext cx="458280" cy="1440"/>
          </a:xfrm>
          <a:prstGeom prst="straightConnector1">
            <a:avLst/>
          </a:prstGeom>
          <a:ln w="19050">
            <a:solidFill>
              <a:srgbClr val="1E2761"/>
            </a:solidFill>
            <a:round/>
            <a:headEnd len="med" type="stealth" w="med"/>
          </a:ln>
        </p:spPr>
      </p:cxnSp>
      <p:sp>
        <p:nvSpPr>
          <p:cNvPr id="40" name="Google Shape;62;p6"/>
          <p:cNvSpPr/>
          <p:nvPr/>
        </p:nvSpPr>
        <p:spPr>
          <a:xfrm>
            <a:off x="5943600" y="2560320"/>
            <a:ext cx="1644480" cy="638640"/>
          </a:xfrm>
          <a:prstGeom prst="roundRect">
            <a:avLst>
              <a:gd name="adj" fmla="val 16667"/>
            </a:avLst>
          </a:prstGeom>
          <a:solidFill>
            <a:srgbClr val="F8F9FA"/>
          </a:solidFill>
          <a:ln w="12700">
            <a:solidFill>
              <a:srgbClr val="1E2761"/>
            </a:solidFill>
            <a:round/>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41" name="Google Shape;63;p6"/>
          <p:cNvSpPr/>
          <p:nvPr/>
        </p:nvSpPr>
        <p:spPr>
          <a:xfrm>
            <a:off x="5943600" y="2697480"/>
            <a:ext cx="1644480" cy="36432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300" b="1" u="none" strike="noStrike">
                <a:solidFill>
                  <a:srgbClr val="000000"/>
                </a:solidFill>
                <a:effectLst/>
                <a:uFillTx/>
                <a:latin typeface="Calibri"/>
                <a:ea typeface="Calibri"/>
              </a:rPr>
              <a:t>ESP32</a:t>
            </a:r>
            <a:endParaRPr lang="en-US" sz="1300" b="0" u="none" strike="noStrike">
              <a:solidFill>
                <a:srgbClr val="000000"/>
              </a:solidFill>
              <a:effectLst/>
              <a:uFillTx/>
              <a:latin typeface="Arial"/>
            </a:endParaRPr>
          </a:p>
        </p:txBody>
      </p:sp>
      <p:cxnSp>
        <p:nvCxnSpPr>
          <p:cNvPr id="42" name="Google Shape;64;p6"/>
          <p:cNvCxnSpPr/>
          <p:nvPr/>
        </p:nvCxnSpPr>
        <p:spPr>
          <a:xfrm>
            <a:off x="7589520" y="2880360"/>
            <a:ext cx="458280" cy="1440"/>
          </a:xfrm>
          <a:prstGeom prst="straightConnector1">
            <a:avLst/>
          </a:prstGeom>
          <a:ln w="19050">
            <a:solidFill>
              <a:srgbClr val="1E2761"/>
            </a:solidFill>
            <a:round/>
            <a:headEnd len="med" type="stealth" w="med"/>
          </a:ln>
        </p:spPr>
      </p:cxnSp>
      <p:sp>
        <p:nvSpPr>
          <p:cNvPr id="43" name="Google Shape;65;p6"/>
          <p:cNvSpPr/>
          <p:nvPr/>
        </p:nvSpPr>
        <p:spPr>
          <a:xfrm>
            <a:off x="8046720" y="2560320"/>
            <a:ext cx="1644480" cy="638640"/>
          </a:xfrm>
          <a:prstGeom prst="roundRect">
            <a:avLst>
              <a:gd name="adj" fmla="val 16667"/>
            </a:avLst>
          </a:prstGeom>
          <a:solidFill>
            <a:srgbClr val="F8F9FA"/>
          </a:solidFill>
          <a:ln w="12700">
            <a:solidFill>
              <a:srgbClr val="1E2761"/>
            </a:solidFill>
            <a:round/>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44" name="Google Shape;66;p6"/>
          <p:cNvSpPr/>
          <p:nvPr/>
        </p:nvSpPr>
        <p:spPr>
          <a:xfrm>
            <a:off x="8046720" y="2697480"/>
            <a:ext cx="1644480" cy="36432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300" b="1" u="none" strike="noStrike">
                <a:solidFill>
                  <a:srgbClr val="000000"/>
                </a:solidFill>
                <a:effectLst/>
                <a:uFillTx/>
                <a:latin typeface="Calibri"/>
                <a:ea typeface="Calibri"/>
              </a:rPr>
              <a:t>GPS</a:t>
            </a:r>
            <a:endParaRPr lang="en-US" sz="1300" b="0" u="none" strike="noStrike">
              <a:solidFill>
                <a:srgbClr val="000000"/>
              </a:solidFill>
              <a:effectLst/>
              <a:uFillTx/>
              <a:latin typeface="Arial"/>
            </a:endParaRPr>
          </a:p>
        </p:txBody>
      </p:sp>
      <p:cxnSp>
        <p:nvCxnSpPr>
          <p:cNvPr id="45" name="Google Shape;67;p6"/>
          <p:cNvCxnSpPr/>
          <p:nvPr/>
        </p:nvCxnSpPr>
        <p:spPr>
          <a:xfrm>
            <a:off x="6766560" y="3200400"/>
            <a:ext cx="1440" cy="732600"/>
          </a:xfrm>
          <a:prstGeom prst="straightConnector1">
            <a:avLst/>
          </a:prstGeom>
          <a:ln w="19050">
            <a:solidFill>
              <a:srgbClr val="1E2761"/>
            </a:solidFill>
            <a:round/>
            <a:headEnd len="med" type="stealth" w="med"/>
          </a:ln>
        </p:spPr>
      </p:cxnSp>
      <p:sp>
        <p:nvSpPr>
          <p:cNvPr id="46" name="Google Shape;68;p6"/>
          <p:cNvSpPr/>
          <p:nvPr/>
        </p:nvSpPr>
        <p:spPr>
          <a:xfrm>
            <a:off x="5943600" y="3931920"/>
            <a:ext cx="1827360" cy="638640"/>
          </a:xfrm>
          <a:prstGeom prst="roundRect">
            <a:avLst>
              <a:gd name="adj" fmla="val 16667"/>
            </a:avLst>
          </a:prstGeom>
          <a:solidFill>
            <a:srgbClr val="F8F9FA"/>
          </a:solidFill>
          <a:ln w="12700">
            <a:solidFill>
              <a:srgbClr val="1E2761"/>
            </a:solidFill>
            <a:round/>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47" name="Google Shape;69;p6"/>
          <p:cNvSpPr/>
          <p:nvPr/>
        </p:nvSpPr>
        <p:spPr>
          <a:xfrm>
            <a:off x="5943600" y="4069440"/>
            <a:ext cx="1827360" cy="36432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300" b="1" u="none" strike="noStrike">
                <a:solidFill>
                  <a:srgbClr val="000000"/>
                </a:solidFill>
                <a:effectLst/>
                <a:uFillTx/>
                <a:latin typeface="Calibri"/>
                <a:ea typeface="Calibri"/>
              </a:rPr>
              <a:t>Wi-Fi/4G/BLUETOOTH</a:t>
            </a:r>
            <a:endParaRPr lang="en-US" sz="1300" b="0" u="none" strike="noStrike">
              <a:solidFill>
                <a:srgbClr val="000000"/>
              </a:solidFill>
              <a:effectLst/>
              <a:uFillTx/>
              <a:latin typeface="Arial"/>
            </a:endParaRPr>
          </a:p>
        </p:txBody>
      </p:sp>
      <p:cxnSp>
        <p:nvCxnSpPr>
          <p:cNvPr id="48" name="Google Shape;70;p6"/>
          <p:cNvCxnSpPr/>
          <p:nvPr/>
        </p:nvCxnSpPr>
        <p:spPr>
          <a:xfrm>
            <a:off x="6766560" y="4572000"/>
            <a:ext cx="1440" cy="732600"/>
          </a:xfrm>
          <a:prstGeom prst="straightConnector1">
            <a:avLst/>
          </a:prstGeom>
          <a:ln w="19050">
            <a:solidFill>
              <a:srgbClr val="1E2761"/>
            </a:solidFill>
            <a:round/>
            <a:headEnd len="med" type="stealth" w="med"/>
          </a:ln>
        </p:spPr>
      </p:cxnSp>
      <p:sp>
        <p:nvSpPr>
          <p:cNvPr id="49" name="Google Shape;71;p6"/>
          <p:cNvSpPr/>
          <p:nvPr/>
        </p:nvSpPr>
        <p:spPr>
          <a:xfrm>
            <a:off x="5760720" y="5303520"/>
            <a:ext cx="2010240" cy="638640"/>
          </a:xfrm>
          <a:prstGeom prst="roundRect">
            <a:avLst>
              <a:gd name="adj" fmla="val 16667"/>
            </a:avLst>
          </a:prstGeom>
          <a:solidFill>
            <a:srgbClr val="F8F9FA"/>
          </a:solidFill>
          <a:ln w="12700">
            <a:solidFill>
              <a:srgbClr val="1E2761"/>
            </a:solidFill>
            <a:round/>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50" name="Google Shape;72;p6"/>
          <p:cNvSpPr/>
          <p:nvPr/>
        </p:nvSpPr>
        <p:spPr>
          <a:xfrm>
            <a:off x="5760720" y="5440680"/>
            <a:ext cx="2010240" cy="36432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200" b="1" u="none" strike="noStrike">
                <a:solidFill>
                  <a:srgbClr val="000000"/>
                </a:solidFill>
                <a:effectLst/>
                <a:uFillTx/>
                <a:latin typeface="Calibri"/>
                <a:ea typeface="Calibri"/>
              </a:rPr>
              <a:t>Backend Server</a:t>
            </a:r>
            <a:endParaRPr lang="en-US" sz="1200" b="0" u="none" strike="noStrike">
              <a:solidFill>
                <a:srgbClr val="000000"/>
              </a:solidFill>
              <a:effectLst/>
              <a:uFillTx/>
              <a:latin typeface="Arial"/>
            </a:endParaRPr>
          </a:p>
        </p:txBody>
      </p:sp>
      <p:cxnSp>
        <p:nvCxnSpPr>
          <p:cNvPr id="51" name="Google Shape;73;p6"/>
          <p:cNvCxnSpPr/>
          <p:nvPr/>
        </p:nvCxnSpPr>
        <p:spPr>
          <a:xfrm>
            <a:off x="4846320" y="5623560"/>
            <a:ext cx="915480" cy="1440"/>
          </a:xfrm>
          <a:prstGeom prst="straightConnector1">
            <a:avLst/>
          </a:prstGeom>
          <a:ln w="19050">
            <a:solidFill>
              <a:srgbClr val="1E2761"/>
            </a:solidFill>
            <a:round/>
            <a:headEnd len="med" type="stealth" w="med"/>
          </a:ln>
        </p:spPr>
      </p:cxnSp>
      <p:sp>
        <p:nvSpPr>
          <p:cNvPr id="52" name="Google Shape;74;p6"/>
          <p:cNvSpPr/>
          <p:nvPr/>
        </p:nvSpPr>
        <p:spPr>
          <a:xfrm>
            <a:off x="3200400" y="5303520"/>
            <a:ext cx="1644480" cy="638640"/>
          </a:xfrm>
          <a:prstGeom prst="roundRect">
            <a:avLst>
              <a:gd name="adj" fmla="val 16667"/>
            </a:avLst>
          </a:prstGeom>
          <a:solidFill>
            <a:srgbClr val="F8F9FA"/>
          </a:solidFill>
          <a:ln w="12700">
            <a:solidFill>
              <a:srgbClr val="1E2761"/>
            </a:solidFill>
            <a:round/>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53" name="Google Shape;75;p6"/>
          <p:cNvSpPr/>
          <p:nvPr/>
        </p:nvSpPr>
        <p:spPr>
          <a:xfrm>
            <a:off x="3200400" y="5440680"/>
            <a:ext cx="1644480" cy="36432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200" b="1" u="none" strike="noStrike">
                <a:solidFill>
                  <a:srgbClr val="000000"/>
                </a:solidFill>
                <a:effectLst/>
                <a:uFillTx/>
                <a:latin typeface="Calibri"/>
                <a:ea typeface="Calibri"/>
              </a:rPr>
              <a:t>Database</a:t>
            </a:r>
            <a:endParaRPr lang="en-US" sz="1200" b="0" u="none" strike="noStrike">
              <a:solidFill>
                <a:srgbClr val="000000"/>
              </a:solidFill>
              <a:effectLst/>
              <a:uFillTx/>
              <a:latin typeface="Arial"/>
            </a:endParaRPr>
          </a:p>
        </p:txBody>
      </p:sp>
      <p:cxnSp>
        <p:nvCxnSpPr>
          <p:cNvPr id="54" name="Google Shape;76;p6"/>
          <p:cNvCxnSpPr/>
          <p:nvPr/>
        </p:nvCxnSpPr>
        <p:spPr>
          <a:xfrm>
            <a:off x="7772400" y="5623560"/>
            <a:ext cx="915480" cy="1440"/>
          </a:xfrm>
          <a:prstGeom prst="straightConnector1">
            <a:avLst/>
          </a:prstGeom>
          <a:ln w="19050">
            <a:solidFill>
              <a:srgbClr val="1E2761"/>
            </a:solidFill>
            <a:round/>
            <a:headEnd len="med" type="stealth" w="med"/>
          </a:ln>
        </p:spPr>
      </p:cxnSp>
      <p:sp>
        <p:nvSpPr>
          <p:cNvPr id="55" name="Google Shape;77;p6"/>
          <p:cNvSpPr/>
          <p:nvPr/>
        </p:nvSpPr>
        <p:spPr>
          <a:xfrm>
            <a:off x="8686800" y="5303520"/>
            <a:ext cx="1827360" cy="638640"/>
          </a:xfrm>
          <a:prstGeom prst="roundRect">
            <a:avLst>
              <a:gd name="adj" fmla="val 16667"/>
            </a:avLst>
          </a:prstGeom>
          <a:solidFill>
            <a:srgbClr val="F8F9FA"/>
          </a:solidFill>
          <a:ln w="12700">
            <a:solidFill>
              <a:srgbClr val="1E2761"/>
            </a:solidFill>
            <a:round/>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56" name="Google Shape;78;p6"/>
          <p:cNvSpPr/>
          <p:nvPr/>
        </p:nvSpPr>
        <p:spPr>
          <a:xfrm>
            <a:off x="8686800" y="5440680"/>
            <a:ext cx="1827360" cy="36432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200" b="1" u="none" strike="noStrike">
                <a:solidFill>
                  <a:srgbClr val="000000"/>
                </a:solidFill>
                <a:effectLst/>
                <a:uFillTx/>
                <a:latin typeface="Calibri"/>
                <a:ea typeface="Calibri"/>
              </a:rPr>
              <a:t>Dashboard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Google Shape;84;p7"/>
          <p:cNvSpPr/>
          <p:nvPr/>
        </p:nvSpPr>
        <p:spPr>
          <a:xfrm>
            <a:off x="457200" y="457200"/>
            <a:ext cx="11245680" cy="7300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Hardware Used</a:t>
            </a:r>
            <a:endParaRPr lang="en-US" sz="3200" b="0" u="none" strike="noStrike">
              <a:solidFill>
                <a:srgbClr val="000000"/>
              </a:solidFill>
              <a:effectLst/>
              <a:uFillTx/>
              <a:latin typeface="Arial"/>
            </a:endParaRPr>
          </a:p>
        </p:txBody>
      </p:sp>
      <p:sp>
        <p:nvSpPr>
          <p:cNvPr id="58" name="Google Shape;85;p7"/>
          <p:cNvSpPr/>
          <p:nvPr/>
        </p:nvSpPr>
        <p:spPr>
          <a:xfrm>
            <a:off x="457200" y="1188720"/>
            <a:ext cx="11245680" cy="4428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graphicFrame>
        <p:nvGraphicFramePr>
          <p:cNvPr id="59" name="Google Shape;86;p7"/>
          <p:cNvGraphicFramePr/>
          <p:nvPr/>
        </p:nvGraphicFramePr>
        <p:xfrm>
          <a:off x="731520" y="1828800"/>
          <a:ext cx="10515240" cy="3654000"/>
        </p:xfrm>
        <a:graphic>
          <a:graphicData uri="http://schemas.openxmlformats.org/drawingml/2006/table">
            <a:tbl>
              <a:tblPr/>
              <a:tblGrid>
                <a:gridCol w="2743200"/>
                <a:gridCol w="7772400"/>
              </a:tblGrid>
              <a:tr h="522000">
                <a:tc>
                  <a:txBody>
                    <a:bodyPr anchor="t">
                      <a:noAutofit/>
                    </a:bodyPr>
                    <a:p>
                      <a:pPr>
                        <a:lnSpc>
                          <a:spcPct val="100000"/>
                        </a:lnSpc>
                        <a:tabLst>
                          <a:tab pos="0" algn="l"/>
                        </a:tabLst>
                      </a:pPr>
                      <a:r>
                        <a:rPr lang="en-US" sz="1800" b="1" u="none" strike="noStrike">
                          <a:solidFill>
                            <a:srgbClr val="212529"/>
                          </a:solidFill>
                          <a:effectLst/>
                          <a:uFillTx/>
                          <a:latin typeface="Calibri"/>
                          <a:ea typeface="Calibri"/>
                        </a:rPr>
                        <a:t>Component</a:t>
                      </a:r>
                      <a:endParaRPr lang="en-US" sz="18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c>
                  <a:txBody>
                    <a:bodyPr anchor="t">
                      <a:noAutofit/>
                    </a:bodyPr>
                    <a:p>
                      <a:pPr>
                        <a:lnSpc>
                          <a:spcPct val="100000"/>
                        </a:lnSpc>
                        <a:tabLst>
                          <a:tab pos="0" algn="l"/>
                        </a:tabLst>
                      </a:pPr>
                      <a:r>
                        <a:rPr lang="en-US" sz="1800" b="1" u="none" strike="noStrike">
                          <a:solidFill>
                            <a:srgbClr val="212529"/>
                          </a:solidFill>
                          <a:effectLst/>
                          <a:uFillTx/>
                          <a:latin typeface="Calibri"/>
                          <a:ea typeface="Calibri"/>
                        </a:rPr>
                        <a:t>Purpose</a:t>
                      </a:r>
                      <a:endParaRPr lang="en-US" sz="18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r>
              <a:tr h="522000">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ESP32</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Main Microcontroller &amp; Wi-Fi</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r>
              <a:tr h="522000">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MPU6050</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3-Axis Accelerometer</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r>
              <a:tr h="522000">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NEO-6M GPS</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Location Tracking</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r>
              <a:tr h="522000">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OLED Display</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Status Display</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r>
              <a:tr h="522000">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Buzzer</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Local Alert</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r>
              <a:tr h="522000">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Power Bank / Battery</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Portable Power Supply</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Google Shape;92;p8"/>
          <p:cNvSpPr/>
          <p:nvPr/>
        </p:nvSpPr>
        <p:spPr>
          <a:xfrm>
            <a:off x="457200" y="457200"/>
            <a:ext cx="11245680" cy="7300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Working Principle</a:t>
            </a:r>
            <a:endParaRPr lang="en-US" sz="3200" b="0" u="none" strike="noStrike">
              <a:solidFill>
                <a:srgbClr val="000000"/>
              </a:solidFill>
              <a:effectLst/>
              <a:uFillTx/>
              <a:latin typeface="Arial"/>
            </a:endParaRPr>
          </a:p>
        </p:txBody>
      </p:sp>
      <p:sp>
        <p:nvSpPr>
          <p:cNvPr id="61" name="Google Shape;93;p8"/>
          <p:cNvSpPr/>
          <p:nvPr/>
        </p:nvSpPr>
        <p:spPr>
          <a:xfrm>
            <a:off x="457200" y="1188720"/>
            <a:ext cx="11245680" cy="4428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62" name="Google Shape;94;p8"/>
          <p:cNvSpPr/>
          <p:nvPr/>
        </p:nvSpPr>
        <p:spPr>
          <a:xfrm>
            <a:off x="731520" y="1463040"/>
            <a:ext cx="10514160" cy="8038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0" u="none" strike="noStrike">
                <a:solidFill>
                  <a:srgbClr val="212529"/>
                </a:solidFill>
                <a:effectLst/>
                <a:uFillTx/>
                <a:latin typeface="Calibri"/>
                <a:ea typeface="Calibri"/>
              </a:rPr>
              <a:t>The accelerometer (</a:t>
            </a:r>
            <a:r>
              <a:rPr lang="en-US" sz="1400" b="0" u="none" strike="noStrike">
                <a:solidFill>
                  <a:srgbClr val="212529"/>
                </a:solidFill>
                <a:effectLst/>
                <a:uFillTx/>
                <a:latin typeface="Calibri"/>
                <a:ea typeface="Calibri"/>
              </a:rPr>
              <a:t>MPU6050</a:t>
            </a:r>
            <a:r>
              <a:rPr lang="en-US" sz="1500" b="0" u="none" strike="noStrike">
                <a:solidFill>
                  <a:srgbClr val="212529"/>
                </a:solidFill>
                <a:effectLst/>
                <a:uFillTx/>
                <a:latin typeface="Calibri"/>
                <a:ea typeface="Calibri"/>
              </a:rPr>
              <a:t>) detects sudden changes in vertical acceleration (Z-axis) when there is a pothole on the road. These changes are further processed in the backend for a clear identification of the pothole.</a:t>
            </a:r>
            <a:endParaRPr lang="en-US" sz="1500" b="0" u="none" strike="noStrike">
              <a:solidFill>
                <a:srgbClr val="000000"/>
              </a:solidFill>
              <a:effectLst/>
              <a:uFillTx/>
              <a:latin typeface="Arial"/>
            </a:endParaRPr>
          </a:p>
        </p:txBody>
      </p:sp>
      <p:sp>
        <p:nvSpPr>
          <p:cNvPr id="63" name="Google Shape;95;p8"/>
          <p:cNvSpPr/>
          <p:nvPr/>
        </p:nvSpPr>
        <p:spPr>
          <a:xfrm>
            <a:off x="731520" y="2560320"/>
            <a:ext cx="222480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1E2761"/>
                </a:solidFill>
                <a:effectLst/>
                <a:uFillTx/>
                <a:latin typeface="Calibri"/>
                <a:ea typeface="Calibri"/>
              </a:rPr>
              <a:t>Detection Axes:</a:t>
            </a:r>
            <a:endParaRPr lang="en-US" sz="1600" b="0" u="none" strike="noStrike">
              <a:solidFill>
                <a:srgbClr val="000000"/>
              </a:solidFill>
              <a:effectLst/>
              <a:uFillTx/>
              <a:latin typeface="Arial"/>
            </a:endParaRPr>
          </a:p>
        </p:txBody>
      </p:sp>
      <p:sp>
        <p:nvSpPr>
          <p:cNvPr id="64" name="Google Shape;96;p8"/>
          <p:cNvSpPr/>
          <p:nvPr/>
        </p:nvSpPr>
        <p:spPr>
          <a:xfrm>
            <a:off x="914400" y="3017520"/>
            <a:ext cx="3656160" cy="364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X-axis: Longitudinal</a:t>
            </a:r>
            <a:endParaRPr lang="en-US" sz="1400" b="0" u="none" strike="noStrike">
              <a:solidFill>
                <a:srgbClr val="000000"/>
              </a:solidFill>
              <a:effectLst/>
              <a:uFillTx/>
              <a:latin typeface="Arial"/>
            </a:endParaRPr>
          </a:p>
        </p:txBody>
      </p:sp>
      <p:sp>
        <p:nvSpPr>
          <p:cNvPr id="65" name="Google Shape;97;p8"/>
          <p:cNvSpPr/>
          <p:nvPr/>
        </p:nvSpPr>
        <p:spPr>
          <a:xfrm>
            <a:off x="914400" y="3383280"/>
            <a:ext cx="3656160" cy="364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Y-axis: Lateral</a:t>
            </a:r>
            <a:endParaRPr lang="en-US" sz="1400" b="0" u="none" strike="noStrike">
              <a:solidFill>
                <a:srgbClr val="000000"/>
              </a:solidFill>
              <a:effectLst/>
              <a:uFillTx/>
              <a:latin typeface="Arial"/>
            </a:endParaRPr>
          </a:p>
        </p:txBody>
      </p:sp>
      <p:sp>
        <p:nvSpPr>
          <p:cNvPr id="66" name="Google Shape;98;p8"/>
          <p:cNvSpPr/>
          <p:nvPr/>
        </p:nvSpPr>
        <p:spPr>
          <a:xfrm>
            <a:off x="914400" y="3749040"/>
            <a:ext cx="3656160" cy="364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Z-axis: Vertical (Critical)</a:t>
            </a:r>
            <a:endParaRPr lang="en-US" sz="1400" b="0" u="none" strike="noStrike">
              <a:solidFill>
                <a:srgbClr val="000000"/>
              </a:solidFill>
              <a:effectLst/>
              <a:uFillTx/>
              <a:latin typeface="Arial"/>
            </a:endParaRPr>
          </a:p>
        </p:txBody>
      </p:sp>
      <p:cxnSp>
        <p:nvCxnSpPr>
          <p:cNvPr id="67" name="Google Shape;99;p8"/>
          <p:cNvCxnSpPr/>
          <p:nvPr/>
        </p:nvCxnSpPr>
        <p:spPr>
          <a:xfrm>
            <a:off x="3375360" y="3702960"/>
            <a:ext cx="5030280" cy="1440"/>
          </a:xfrm>
          <a:prstGeom prst="straightConnector1">
            <a:avLst/>
          </a:prstGeom>
          <a:ln w="38100">
            <a:solidFill>
              <a:srgbClr val="1E2761"/>
            </a:solidFill>
            <a:round/>
          </a:ln>
        </p:spPr>
      </p:cxnSp>
      <p:sp>
        <p:nvSpPr>
          <p:cNvPr id="68" name="Google Shape;100;p8"/>
          <p:cNvSpPr/>
          <p:nvPr/>
        </p:nvSpPr>
        <p:spPr>
          <a:xfrm>
            <a:off x="5535000" y="3737160"/>
            <a:ext cx="1120680" cy="364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200" b="1" u="none" strike="noStrike">
                <a:solidFill>
                  <a:srgbClr val="F96167"/>
                </a:solidFill>
                <a:effectLst/>
                <a:uFillTx/>
                <a:latin typeface="Calibri"/>
                <a:ea typeface="Calibri"/>
              </a:rPr>
              <a:t>No Pothole Spike</a:t>
            </a:r>
            <a:endParaRPr lang="en-US" sz="1200" b="0" u="none" strike="noStrike">
              <a:solidFill>
                <a:srgbClr val="000000"/>
              </a:solidFill>
              <a:effectLst/>
              <a:uFillTx/>
              <a:latin typeface="Arial"/>
            </a:endParaRPr>
          </a:p>
        </p:txBody>
      </p:sp>
      <p:sp>
        <p:nvSpPr>
          <p:cNvPr id="69" name="Google Shape;101;p8"/>
          <p:cNvSpPr/>
          <p:nvPr/>
        </p:nvSpPr>
        <p:spPr>
          <a:xfrm>
            <a:off x="731520" y="4480560"/>
            <a:ext cx="45705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1E2761"/>
                </a:solidFill>
                <a:effectLst/>
                <a:uFillTx/>
                <a:latin typeface="Calibri"/>
                <a:ea typeface="Calibri"/>
              </a:rPr>
              <a:t>False Positive Sources:</a:t>
            </a:r>
            <a:endParaRPr lang="en-US" sz="1600" b="0" u="none" strike="noStrike">
              <a:solidFill>
                <a:srgbClr val="000000"/>
              </a:solidFill>
              <a:effectLst/>
              <a:uFillTx/>
              <a:latin typeface="Arial"/>
            </a:endParaRPr>
          </a:p>
        </p:txBody>
      </p:sp>
      <p:sp>
        <p:nvSpPr>
          <p:cNvPr id="70" name="Google Shape;102;p8"/>
          <p:cNvSpPr/>
          <p:nvPr/>
        </p:nvSpPr>
        <p:spPr>
          <a:xfrm>
            <a:off x="914400" y="4937760"/>
            <a:ext cx="3656160" cy="364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0" u="none" strike="noStrike">
                <a:solidFill>
                  <a:srgbClr val="212529"/>
                </a:solidFill>
                <a:effectLst/>
                <a:uFillTx/>
                <a:latin typeface="Calibri"/>
                <a:ea typeface="Calibri"/>
              </a:rPr>
              <a:t>• Speed breakers</a:t>
            </a:r>
            <a:endParaRPr lang="en-US" sz="1300" b="0" u="none" strike="noStrike">
              <a:solidFill>
                <a:srgbClr val="000000"/>
              </a:solidFill>
              <a:effectLst/>
              <a:uFillTx/>
              <a:latin typeface="Arial"/>
            </a:endParaRPr>
          </a:p>
        </p:txBody>
      </p:sp>
      <p:sp>
        <p:nvSpPr>
          <p:cNvPr id="71" name="Google Shape;103;p8"/>
          <p:cNvSpPr/>
          <p:nvPr/>
        </p:nvSpPr>
        <p:spPr>
          <a:xfrm>
            <a:off x="914400" y="5303520"/>
            <a:ext cx="3656160" cy="364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0" u="none" strike="noStrike">
                <a:solidFill>
                  <a:srgbClr val="212529"/>
                </a:solidFill>
                <a:effectLst/>
                <a:uFillTx/>
                <a:latin typeface="Calibri"/>
                <a:ea typeface="Calibri"/>
              </a:rPr>
              <a:t>• Braking/Acceleration</a:t>
            </a:r>
            <a:endParaRPr lang="en-US" sz="1300" b="0" u="none" strike="noStrike">
              <a:solidFill>
                <a:srgbClr val="000000"/>
              </a:solidFill>
              <a:effectLst/>
              <a:uFillTx/>
              <a:latin typeface="Arial"/>
            </a:endParaRPr>
          </a:p>
        </p:txBody>
      </p:sp>
      <p:sp>
        <p:nvSpPr>
          <p:cNvPr id="72" name="Google Shape;104;p8"/>
          <p:cNvSpPr/>
          <p:nvPr/>
        </p:nvSpPr>
        <p:spPr>
          <a:xfrm>
            <a:off x="914400" y="5669280"/>
            <a:ext cx="3656160" cy="364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0" u="none" strike="noStrike">
                <a:solidFill>
                  <a:srgbClr val="212529"/>
                </a:solidFill>
                <a:effectLst/>
                <a:uFillTx/>
                <a:latin typeface="Calibri"/>
                <a:ea typeface="Calibri"/>
              </a:rPr>
              <a:t>• Rough roads</a:t>
            </a:r>
            <a:endParaRPr lang="en-US" sz="1300" b="0" u="none" strike="noStrike">
              <a:solidFill>
                <a:srgbClr val="000000"/>
              </a:solidFill>
              <a:effectLst/>
              <a:uFillTx/>
              <a:latin typeface="Arial"/>
            </a:endParaRPr>
          </a:p>
        </p:txBody>
      </p:sp>
      <p:sp>
        <p:nvSpPr>
          <p:cNvPr id="73" name="Google Shape;105;p8"/>
          <p:cNvSpPr/>
          <p:nvPr/>
        </p:nvSpPr>
        <p:spPr>
          <a:xfrm>
            <a:off x="914400" y="6035040"/>
            <a:ext cx="3656160" cy="364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0" u="none" strike="noStrike">
                <a:solidFill>
                  <a:srgbClr val="212529"/>
                </a:solidFill>
                <a:effectLst/>
                <a:uFillTx/>
                <a:latin typeface="Calibri"/>
                <a:ea typeface="Calibri"/>
              </a:rPr>
              <a:t>• Sharp turns</a:t>
            </a:r>
            <a:endParaRPr lang="en-US" sz="1300" b="0" u="none" strike="noStrike">
              <a:solidFill>
                <a:srgbClr val="000000"/>
              </a:solidFill>
              <a:effectLst/>
              <a:uFillTx/>
              <a:latin typeface="Arial"/>
            </a:endParaRPr>
          </a:p>
        </p:txBody>
      </p:sp>
      <p:pic>
        <p:nvPicPr>
          <p:cNvPr id="74" name="Google Shape;106;p8"/>
          <p:cNvPicPr/>
          <p:nvPr/>
        </p:nvPicPr>
        <p:blipFill>
          <a:blip r:embed="rId1"/>
          <a:stretch/>
        </p:blipFill>
        <p:spPr>
          <a:xfrm>
            <a:off x="8891280" y="2145240"/>
            <a:ext cx="2811600" cy="2108520"/>
          </a:xfrm>
          <a:prstGeom prst="rect">
            <a:avLst/>
          </a:prstGeom>
          <a:noFill/>
          <a:ln w="0">
            <a:noFill/>
          </a:ln>
        </p:spPr>
      </p:pic>
      <p:pic>
        <p:nvPicPr>
          <p:cNvPr id="75" name="Google Shape;107;p8"/>
          <p:cNvPicPr/>
          <p:nvPr/>
        </p:nvPicPr>
        <p:blipFill>
          <a:blip r:embed="rId2"/>
          <a:stretch/>
        </p:blipFill>
        <p:spPr>
          <a:xfrm>
            <a:off x="8891280" y="4480560"/>
            <a:ext cx="2811600" cy="1875600"/>
          </a:xfrm>
          <a:prstGeom prst="rect">
            <a:avLst/>
          </a:prstGeom>
          <a:noFill/>
          <a:ln w="0">
            <a:noFill/>
          </a:ln>
        </p:spPr>
      </p:pic>
      <p:cxnSp>
        <p:nvCxnSpPr>
          <p:cNvPr id="76" name="Google Shape;108;p8"/>
          <p:cNvCxnSpPr/>
          <p:nvPr/>
        </p:nvCxnSpPr>
        <p:spPr>
          <a:xfrm>
            <a:off x="3452040" y="3258000"/>
            <a:ext cx="4876560" cy="22320"/>
          </a:xfrm>
          <a:prstGeom prst="straightConnector1">
            <a:avLst/>
          </a:prstGeom>
          <a:ln w="9525">
            <a:solidFill>
              <a:srgbClr val="44546A"/>
            </a:solidFill>
            <a:prstDash val="dash"/>
            <a:round/>
          </a:ln>
        </p:spPr>
      </p:cxnSp>
      <p:cxnSp>
        <p:nvCxnSpPr>
          <p:cNvPr id="77" name="Google Shape;109;p8"/>
          <p:cNvCxnSpPr/>
          <p:nvPr/>
        </p:nvCxnSpPr>
        <p:spPr>
          <a:xfrm>
            <a:off x="3474360" y="5480280"/>
            <a:ext cx="5030280" cy="1440"/>
          </a:xfrm>
          <a:prstGeom prst="straightConnector1">
            <a:avLst/>
          </a:prstGeom>
          <a:ln w="38100">
            <a:solidFill>
              <a:srgbClr val="1E2761"/>
            </a:solidFill>
            <a:round/>
          </a:ln>
        </p:spPr>
      </p:cxnSp>
      <p:sp>
        <p:nvSpPr>
          <p:cNvPr id="78" name="Google Shape;110;p8"/>
          <p:cNvSpPr/>
          <p:nvPr/>
        </p:nvSpPr>
        <p:spPr>
          <a:xfrm>
            <a:off x="5760720" y="5571720"/>
            <a:ext cx="2284560" cy="364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200" b="1" u="none" strike="noStrike">
                <a:solidFill>
                  <a:srgbClr val="F96167"/>
                </a:solidFill>
                <a:effectLst/>
                <a:uFillTx/>
                <a:latin typeface="Calibri"/>
                <a:ea typeface="Calibri"/>
              </a:rPr>
              <a:t>Pothole Spike</a:t>
            </a:r>
            <a:endParaRPr lang="en-US" sz="1200" b="0" u="none" strike="noStrike">
              <a:solidFill>
                <a:srgbClr val="000000"/>
              </a:solidFill>
              <a:effectLst/>
              <a:uFillTx/>
              <a:latin typeface="Arial"/>
            </a:endParaRPr>
          </a:p>
        </p:txBody>
      </p:sp>
      <p:sp>
        <p:nvSpPr>
          <p:cNvPr id="79" name="Google Shape;111;p8"/>
          <p:cNvSpPr/>
          <p:nvPr/>
        </p:nvSpPr>
        <p:spPr>
          <a:xfrm>
            <a:off x="3404520" y="4977000"/>
            <a:ext cx="4970160" cy="313560"/>
          </a:xfrm>
          <a:custGeom>
            <a:avLst/>
            <a:gdLst>
              <a:gd name="textAreaLeft" fmla="*/ 0 w 4970160"/>
              <a:gd name="textAreaRight" fmla="*/ 4971240 w 4970160"/>
              <a:gd name="textAreaTop" fmla="*/ 0 h 313560"/>
              <a:gd name="textAreaBottom" fmla="*/ 314640 h 313560"/>
            </a:gdLst>
            <a:ahLst/>
            <a:cxnLst/>
            <a:rect l="textAreaLeft" t="textAreaTop" r="textAreaRight" b="textAreaBottom"/>
            <a:pathLst>
              <a:path w="198846" h="12591">
                <a:moveTo>
                  <a:pt x="198847" y="3090"/>
                </a:moveTo>
                <a:cubicBezTo>
                  <a:pt x="182559" y="4662"/>
                  <a:pt x="132696" y="12806"/>
                  <a:pt x="101120" y="12520"/>
                </a:cubicBezTo>
                <a:cubicBezTo>
                  <a:pt x="69545" y="12234"/>
                  <a:pt x="25682" y="3447"/>
                  <a:pt x="9394" y="1375"/>
                </a:cubicBezTo>
                <a:cubicBezTo>
                  <a:pt x="-6894" y="-697"/>
                  <a:pt x="4394" y="304"/>
                  <a:pt x="3394" y="90"/>
                </a:cubicBezTo>
              </a:path>
            </a:pathLst>
          </a:custGeom>
          <a:noFill/>
          <a:ln w="9525">
            <a:solidFill>
              <a:srgbClr val="44546A"/>
            </a:solidFill>
            <a:prstDash val="dash"/>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Google Shape;117;p9"/>
          <p:cNvSpPr/>
          <p:nvPr/>
        </p:nvSpPr>
        <p:spPr>
          <a:xfrm>
            <a:off x="457200" y="457200"/>
            <a:ext cx="11245680" cy="7300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Data &amp; ML Approach in RPDS</a:t>
            </a:r>
            <a:endParaRPr lang="en-US" sz="3200" b="0" u="none" strike="noStrike">
              <a:solidFill>
                <a:srgbClr val="000000"/>
              </a:solidFill>
              <a:effectLst/>
              <a:uFillTx/>
              <a:latin typeface="Arial"/>
            </a:endParaRPr>
          </a:p>
        </p:txBody>
      </p:sp>
      <p:sp>
        <p:nvSpPr>
          <p:cNvPr id="81" name="Google Shape;118;p9"/>
          <p:cNvSpPr/>
          <p:nvPr/>
        </p:nvSpPr>
        <p:spPr>
          <a:xfrm>
            <a:off x="457200" y="1188720"/>
            <a:ext cx="11245680" cy="4428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82" name="Google Shape;119;p9"/>
          <p:cNvSpPr/>
          <p:nvPr/>
        </p:nvSpPr>
        <p:spPr>
          <a:xfrm>
            <a:off x="548640" y="146376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800" b="1" u="none" strike="noStrike">
                <a:solidFill>
                  <a:srgbClr val="1E2761"/>
                </a:solidFill>
                <a:effectLst/>
                <a:uFillTx/>
                <a:latin typeface="Calibri"/>
                <a:ea typeface="Calibri"/>
              </a:rPr>
              <a:t>Dataset Format</a:t>
            </a:r>
            <a:endParaRPr lang="en-US" sz="1800" b="0" u="none" strike="noStrike">
              <a:solidFill>
                <a:srgbClr val="000000"/>
              </a:solidFill>
              <a:effectLst/>
              <a:uFillTx/>
              <a:latin typeface="Arial"/>
            </a:endParaRPr>
          </a:p>
        </p:txBody>
      </p:sp>
      <p:sp>
        <p:nvSpPr>
          <p:cNvPr id="83" name="Google Shape;120;p9"/>
          <p:cNvSpPr/>
          <p:nvPr/>
        </p:nvSpPr>
        <p:spPr>
          <a:xfrm>
            <a:off x="548640" y="192096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100" b="0" u="none" strike="noStrike">
                <a:solidFill>
                  <a:srgbClr val="212529"/>
                </a:solidFill>
                <a:effectLst/>
                <a:uFillTx/>
                <a:latin typeface="Courier New"/>
                <a:ea typeface="Courier New"/>
              </a:rPr>
              <a:t>timestamp, ax, ay, az, speed, lat, lon, label</a:t>
            </a:r>
            <a:endParaRPr lang="en-US" sz="1100" b="0" u="none" strike="noStrike">
              <a:solidFill>
                <a:srgbClr val="000000"/>
              </a:solidFill>
              <a:effectLst/>
              <a:uFillTx/>
              <a:latin typeface="Arial"/>
            </a:endParaRPr>
          </a:p>
        </p:txBody>
      </p:sp>
      <p:sp>
        <p:nvSpPr>
          <p:cNvPr id="84" name="Google Shape;121;p9"/>
          <p:cNvSpPr/>
          <p:nvPr/>
        </p:nvSpPr>
        <p:spPr>
          <a:xfrm>
            <a:off x="548640" y="2561040"/>
            <a:ext cx="5027760" cy="364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NORMAL</a:t>
            </a:r>
            <a:endParaRPr lang="en-US" sz="1400" b="0" u="none" strike="noStrike">
              <a:solidFill>
                <a:srgbClr val="000000"/>
              </a:solidFill>
              <a:effectLst/>
              <a:uFillTx/>
              <a:latin typeface="Arial"/>
            </a:endParaRPr>
          </a:p>
        </p:txBody>
      </p:sp>
      <p:sp>
        <p:nvSpPr>
          <p:cNvPr id="85" name="Google Shape;122;p9"/>
          <p:cNvSpPr/>
          <p:nvPr/>
        </p:nvSpPr>
        <p:spPr>
          <a:xfrm>
            <a:off x="548640" y="2926800"/>
            <a:ext cx="5027760" cy="364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POTHOLE</a:t>
            </a:r>
            <a:endParaRPr lang="en-US" sz="1400" b="0" u="none" strike="noStrike">
              <a:solidFill>
                <a:srgbClr val="000000"/>
              </a:solidFill>
              <a:effectLst/>
              <a:uFillTx/>
              <a:latin typeface="Arial"/>
            </a:endParaRPr>
          </a:p>
        </p:txBody>
      </p:sp>
      <p:sp>
        <p:nvSpPr>
          <p:cNvPr id="86" name="Google Shape;123;p9"/>
          <p:cNvSpPr/>
          <p:nvPr/>
        </p:nvSpPr>
        <p:spPr>
          <a:xfrm>
            <a:off x="548640" y="3292560"/>
            <a:ext cx="5027760" cy="364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SPEED BREAKER</a:t>
            </a:r>
            <a:endParaRPr lang="en-US" sz="1400" b="0" u="none" strike="noStrike">
              <a:solidFill>
                <a:srgbClr val="000000"/>
              </a:solidFill>
              <a:effectLst/>
              <a:uFillTx/>
              <a:latin typeface="Arial"/>
            </a:endParaRPr>
          </a:p>
        </p:txBody>
      </p:sp>
      <p:sp>
        <p:nvSpPr>
          <p:cNvPr id="87" name="Google Shape;124;p9"/>
          <p:cNvSpPr/>
          <p:nvPr/>
        </p:nvSpPr>
        <p:spPr>
          <a:xfrm>
            <a:off x="548640" y="3658320"/>
            <a:ext cx="5027760" cy="364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ROUGH ROAD</a:t>
            </a:r>
            <a:endParaRPr lang="en-US" sz="1400" b="0" u="none" strike="noStrike">
              <a:solidFill>
                <a:srgbClr val="000000"/>
              </a:solidFill>
              <a:effectLst/>
              <a:uFillTx/>
              <a:latin typeface="Arial"/>
            </a:endParaRPr>
          </a:p>
        </p:txBody>
      </p:sp>
      <p:sp>
        <p:nvSpPr>
          <p:cNvPr id="88" name="Google Shape;125;p9"/>
          <p:cNvSpPr/>
          <p:nvPr/>
        </p:nvSpPr>
        <p:spPr>
          <a:xfrm>
            <a:off x="457200" y="413280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800" b="1" u="none" strike="noStrike">
                <a:solidFill>
                  <a:srgbClr val="F96167"/>
                </a:solidFill>
                <a:effectLst/>
                <a:uFillTx/>
                <a:latin typeface="Calibri"/>
                <a:ea typeface="Calibri"/>
              </a:rPr>
              <a:t>ML Model: Random Forest</a:t>
            </a:r>
            <a:endParaRPr lang="en-US" sz="1800" b="0" u="none" strike="noStrike">
              <a:solidFill>
                <a:srgbClr val="000000"/>
              </a:solidFill>
              <a:effectLst/>
              <a:uFillTx/>
              <a:latin typeface="Arial"/>
            </a:endParaRPr>
          </a:p>
        </p:txBody>
      </p:sp>
      <p:sp>
        <p:nvSpPr>
          <p:cNvPr id="89" name="Google Shape;126;p9"/>
          <p:cNvSpPr/>
          <p:nvPr/>
        </p:nvSpPr>
        <p:spPr>
          <a:xfrm>
            <a:off x="640080" y="468144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Small dataset friendly</a:t>
            </a:r>
            <a:endParaRPr lang="en-US" sz="1400" b="0" u="none" strike="noStrike">
              <a:solidFill>
                <a:srgbClr val="000000"/>
              </a:solidFill>
              <a:effectLst/>
              <a:uFillTx/>
              <a:latin typeface="Arial"/>
            </a:endParaRPr>
          </a:p>
        </p:txBody>
      </p:sp>
      <p:sp>
        <p:nvSpPr>
          <p:cNvPr id="90" name="Google Shape;127;p9"/>
          <p:cNvSpPr/>
          <p:nvPr/>
        </p:nvSpPr>
        <p:spPr>
          <a:xfrm>
            <a:off x="640080" y="513864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Fast &amp; interpretable</a:t>
            </a:r>
            <a:endParaRPr lang="en-US" sz="1400" b="0" u="none" strike="noStrike">
              <a:solidFill>
                <a:srgbClr val="000000"/>
              </a:solidFill>
              <a:effectLst/>
              <a:uFillTx/>
              <a:latin typeface="Arial"/>
            </a:endParaRPr>
          </a:p>
        </p:txBody>
      </p:sp>
      <p:sp>
        <p:nvSpPr>
          <p:cNvPr id="91" name="Google Shape;128;p9"/>
          <p:cNvSpPr/>
          <p:nvPr/>
        </p:nvSpPr>
        <p:spPr>
          <a:xfrm>
            <a:off x="640080" y="559584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Low compute overhead</a:t>
            </a:r>
            <a:endParaRPr lang="en-US" sz="1400" b="0" u="none" strike="noStrike">
              <a:solidFill>
                <a:srgbClr val="000000"/>
              </a:solidFill>
              <a:effectLst/>
              <a:uFillTx/>
              <a:latin typeface="Arial"/>
            </a:endParaRPr>
          </a:p>
        </p:txBody>
      </p:sp>
      <p:sp>
        <p:nvSpPr>
          <p:cNvPr id="92" name="Google Shape;129;p9"/>
          <p:cNvSpPr/>
          <p:nvPr/>
        </p:nvSpPr>
        <p:spPr>
          <a:xfrm>
            <a:off x="640080" y="605304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Suitable for prototype</a:t>
            </a:r>
            <a:endParaRPr lang="en-US" sz="1400" b="0" u="none" strike="noStrike">
              <a:solidFill>
                <a:srgbClr val="000000"/>
              </a:solidFill>
              <a:effectLst/>
              <a:uFillTx/>
              <a:latin typeface="Arial"/>
            </a:endParaRPr>
          </a:p>
        </p:txBody>
      </p:sp>
      <p:pic>
        <p:nvPicPr>
          <p:cNvPr id="93" name="Google Shape;130;p9"/>
          <p:cNvPicPr/>
          <p:nvPr/>
        </p:nvPicPr>
        <p:blipFill>
          <a:blip r:embed="rId1"/>
          <a:stretch/>
        </p:blipFill>
        <p:spPr>
          <a:xfrm>
            <a:off x="5577480" y="1622160"/>
            <a:ext cx="6217200" cy="46627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Google Shape;136;p10"/>
          <p:cNvSpPr/>
          <p:nvPr/>
        </p:nvSpPr>
        <p:spPr>
          <a:xfrm>
            <a:off x="457200" y="457200"/>
            <a:ext cx="11245680" cy="7300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Technology Stack of RPDS</a:t>
            </a:r>
            <a:endParaRPr lang="en-US" sz="3200" b="0" u="none" strike="noStrike">
              <a:solidFill>
                <a:srgbClr val="000000"/>
              </a:solidFill>
              <a:effectLst/>
              <a:uFillTx/>
              <a:latin typeface="Arial"/>
            </a:endParaRPr>
          </a:p>
        </p:txBody>
      </p:sp>
      <p:sp>
        <p:nvSpPr>
          <p:cNvPr id="95" name="Google Shape;137;p10"/>
          <p:cNvSpPr/>
          <p:nvPr/>
        </p:nvSpPr>
        <p:spPr>
          <a:xfrm>
            <a:off x="457200" y="1188720"/>
            <a:ext cx="11245680" cy="4428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96" name="Google Shape;138;p10"/>
          <p:cNvSpPr/>
          <p:nvPr/>
        </p:nvSpPr>
        <p:spPr>
          <a:xfrm>
            <a:off x="731520" y="1828800"/>
            <a:ext cx="2741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1" u="none" strike="noStrike">
                <a:solidFill>
                  <a:srgbClr val="1E2761"/>
                </a:solidFill>
                <a:effectLst/>
                <a:uFillTx/>
                <a:latin typeface="Calibri"/>
                <a:ea typeface="Calibri"/>
              </a:rPr>
              <a:t>IoT/Hardware</a:t>
            </a:r>
            <a:endParaRPr lang="en-US" sz="1500" b="0" u="none" strike="noStrike">
              <a:solidFill>
                <a:srgbClr val="000000"/>
              </a:solidFill>
              <a:effectLst/>
              <a:uFillTx/>
              <a:latin typeface="Arial"/>
            </a:endParaRPr>
          </a:p>
        </p:txBody>
      </p:sp>
      <p:sp>
        <p:nvSpPr>
          <p:cNvPr id="97" name="Google Shape;139;p10"/>
          <p:cNvSpPr/>
          <p:nvPr/>
        </p:nvSpPr>
        <p:spPr>
          <a:xfrm>
            <a:off x="3657600" y="1828800"/>
            <a:ext cx="7313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0" u="none" strike="noStrike">
                <a:solidFill>
                  <a:srgbClr val="212529"/>
                </a:solidFill>
                <a:effectLst/>
                <a:uFillTx/>
                <a:latin typeface="Calibri"/>
                <a:ea typeface="Calibri"/>
              </a:rPr>
              <a:t>ESP32, MPU6050, GPS, OLED</a:t>
            </a:r>
            <a:endParaRPr lang="en-US" sz="1500" b="0" u="none" strike="noStrike">
              <a:solidFill>
                <a:srgbClr val="000000"/>
              </a:solidFill>
              <a:effectLst/>
              <a:uFillTx/>
              <a:latin typeface="Arial"/>
            </a:endParaRPr>
          </a:p>
        </p:txBody>
      </p:sp>
      <p:sp>
        <p:nvSpPr>
          <p:cNvPr id="98" name="Google Shape;140;p10"/>
          <p:cNvSpPr/>
          <p:nvPr/>
        </p:nvSpPr>
        <p:spPr>
          <a:xfrm>
            <a:off x="731520" y="2468880"/>
            <a:ext cx="2741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1" u="none" strike="noStrike">
                <a:solidFill>
                  <a:srgbClr val="1E2761"/>
                </a:solidFill>
                <a:effectLst/>
                <a:uFillTx/>
                <a:latin typeface="Calibri"/>
                <a:ea typeface="Calibri"/>
              </a:rPr>
              <a:t>Backend</a:t>
            </a:r>
            <a:endParaRPr lang="en-US" sz="1500" b="0" u="none" strike="noStrike">
              <a:solidFill>
                <a:srgbClr val="000000"/>
              </a:solidFill>
              <a:effectLst/>
              <a:uFillTx/>
              <a:latin typeface="Arial"/>
            </a:endParaRPr>
          </a:p>
        </p:txBody>
      </p:sp>
      <p:sp>
        <p:nvSpPr>
          <p:cNvPr id="99" name="Google Shape;141;p10"/>
          <p:cNvSpPr/>
          <p:nvPr/>
        </p:nvSpPr>
        <p:spPr>
          <a:xfrm>
            <a:off x="3657600" y="2468880"/>
            <a:ext cx="7313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0" u="none" strike="noStrike">
                <a:solidFill>
                  <a:srgbClr val="212529"/>
                </a:solidFill>
                <a:effectLst/>
                <a:uFillTx/>
                <a:latin typeface="Calibri"/>
                <a:ea typeface="Calibri"/>
              </a:rPr>
              <a:t>Python, FastAPI</a:t>
            </a:r>
            <a:endParaRPr lang="en-US" sz="1500" b="0" u="none" strike="noStrike">
              <a:solidFill>
                <a:srgbClr val="000000"/>
              </a:solidFill>
              <a:effectLst/>
              <a:uFillTx/>
              <a:latin typeface="Arial"/>
            </a:endParaRPr>
          </a:p>
        </p:txBody>
      </p:sp>
      <p:sp>
        <p:nvSpPr>
          <p:cNvPr id="100" name="Google Shape;142;p10"/>
          <p:cNvSpPr/>
          <p:nvPr/>
        </p:nvSpPr>
        <p:spPr>
          <a:xfrm>
            <a:off x="731520" y="3108960"/>
            <a:ext cx="2741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1" u="none" strike="noStrike">
                <a:solidFill>
                  <a:srgbClr val="1E2761"/>
                </a:solidFill>
                <a:effectLst/>
                <a:uFillTx/>
                <a:latin typeface="Calibri"/>
                <a:ea typeface="Calibri"/>
              </a:rPr>
              <a:t>Database</a:t>
            </a:r>
            <a:endParaRPr lang="en-US" sz="1500" b="0" u="none" strike="noStrike">
              <a:solidFill>
                <a:srgbClr val="000000"/>
              </a:solidFill>
              <a:effectLst/>
              <a:uFillTx/>
              <a:latin typeface="Arial"/>
            </a:endParaRPr>
          </a:p>
        </p:txBody>
      </p:sp>
      <p:sp>
        <p:nvSpPr>
          <p:cNvPr id="101" name="Google Shape;143;p10"/>
          <p:cNvSpPr/>
          <p:nvPr/>
        </p:nvSpPr>
        <p:spPr>
          <a:xfrm>
            <a:off x="3657600" y="3108960"/>
            <a:ext cx="7313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0" u="none" strike="noStrike">
                <a:solidFill>
                  <a:srgbClr val="212529"/>
                </a:solidFill>
                <a:effectLst/>
                <a:uFillTx/>
                <a:latin typeface="Calibri"/>
                <a:ea typeface="Calibri"/>
              </a:rPr>
              <a:t>Appwrite Cloud</a:t>
            </a:r>
            <a:endParaRPr lang="en-US" sz="1500" b="0" u="none" strike="noStrike">
              <a:solidFill>
                <a:srgbClr val="000000"/>
              </a:solidFill>
              <a:effectLst/>
              <a:uFillTx/>
              <a:latin typeface="Arial"/>
            </a:endParaRPr>
          </a:p>
        </p:txBody>
      </p:sp>
      <p:sp>
        <p:nvSpPr>
          <p:cNvPr id="102" name="Google Shape;144;p10"/>
          <p:cNvSpPr/>
          <p:nvPr/>
        </p:nvSpPr>
        <p:spPr>
          <a:xfrm>
            <a:off x="731520" y="3749040"/>
            <a:ext cx="2741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1" u="none" strike="noStrike">
                <a:solidFill>
                  <a:srgbClr val="1E2761"/>
                </a:solidFill>
                <a:effectLst/>
                <a:uFillTx/>
                <a:latin typeface="Calibri"/>
                <a:ea typeface="Calibri"/>
              </a:rPr>
              <a:t>Frontend</a:t>
            </a:r>
            <a:endParaRPr lang="en-US" sz="1500" b="0" u="none" strike="noStrike">
              <a:solidFill>
                <a:srgbClr val="000000"/>
              </a:solidFill>
              <a:effectLst/>
              <a:uFillTx/>
              <a:latin typeface="Arial"/>
            </a:endParaRPr>
          </a:p>
        </p:txBody>
      </p:sp>
      <p:sp>
        <p:nvSpPr>
          <p:cNvPr id="103" name="Google Shape;145;p10"/>
          <p:cNvSpPr/>
          <p:nvPr/>
        </p:nvSpPr>
        <p:spPr>
          <a:xfrm>
            <a:off x="3657600" y="3749040"/>
            <a:ext cx="7313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0" u="none" strike="noStrike">
                <a:solidFill>
                  <a:srgbClr val="212529"/>
                </a:solidFill>
                <a:effectLst/>
                <a:uFillTx/>
                <a:latin typeface="Calibri"/>
                <a:ea typeface="Calibri"/>
              </a:rPr>
              <a:t>React, mapcn, tailwind, Vite</a:t>
            </a:r>
            <a:endParaRPr lang="en-US" sz="1500" b="0" u="none" strike="noStrike">
              <a:solidFill>
                <a:srgbClr val="000000"/>
              </a:solidFill>
              <a:effectLst/>
              <a:uFillTx/>
              <a:latin typeface="Arial"/>
            </a:endParaRPr>
          </a:p>
        </p:txBody>
      </p:sp>
      <p:sp>
        <p:nvSpPr>
          <p:cNvPr id="104" name="Google Shape;146;p10"/>
          <p:cNvSpPr/>
          <p:nvPr/>
        </p:nvSpPr>
        <p:spPr>
          <a:xfrm>
            <a:off x="731520" y="4389120"/>
            <a:ext cx="2741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1" u="none" strike="noStrike">
                <a:solidFill>
                  <a:srgbClr val="1E2761"/>
                </a:solidFill>
                <a:effectLst/>
                <a:uFillTx/>
                <a:latin typeface="Calibri"/>
                <a:ea typeface="Calibri"/>
              </a:rPr>
              <a:t>ML</a:t>
            </a:r>
            <a:endParaRPr lang="en-US" sz="1500" b="0" u="none" strike="noStrike">
              <a:solidFill>
                <a:srgbClr val="000000"/>
              </a:solidFill>
              <a:effectLst/>
              <a:uFillTx/>
              <a:latin typeface="Arial"/>
            </a:endParaRPr>
          </a:p>
        </p:txBody>
      </p:sp>
      <p:sp>
        <p:nvSpPr>
          <p:cNvPr id="105" name="Google Shape;147;p10"/>
          <p:cNvSpPr/>
          <p:nvPr/>
        </p:nvSpPr>
        <p:spPr>
          <a:xfrm>
            <a:off x="3657600" y="4389120"/>
            <a:ext cx="7313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0" u="none" strike="noStrike">
                <a:solidFill>
                  <a:srgbClr val="212529"/>
                </a:solidFill>
                <a:effectLst/>
                <a:uFillTx/>
                <a:latin typeface="Calibri"/>
                <a:ea typeface="Calibri"/>
              </a:rPr>
              <a:t>scikit-learn, Random Forest</a:t>
            </a:r>
            <a:endParaRPr lang="en-US" sz="1500" b="0" u="none" strike="noStrike">
              <a:solidFill>
                <a:srgbClr val="000000"/>
              </a:solidFill>
              <a:effectLst/>
              <a:uFillTx/>
              <a:latin typeface="Arial"/>
            </a:endParaRPr>
          </a:p>
        </p:txBody>
      </p:sp>
      <p:sp>
        <p:nvSpPr>
          <p:cNvPr id="106" name="Google Shape;148;p10"/>
          <p:cNvSpPr/>
          <p:nvPr/>
        </p:nvSpPr>
        <p:spPr>
          <a:xfrm>
            <a:off x="731520" y="5029200"/>
            <a:ext cx="2741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1" u="none" strike="noStrike">
                <a:solidFill>
                  <a:srgbClr val="1E2761"/>
                </a:solidFill>
                <a:effectLst/>
                <a:uFillTx/>
                <a:latin typeface="Calibri"/>
                <a:ea typeface="Calibri"/>
              </a:rPr>
              <a:t>Comm.</a:t>
            </a:r>
            <a:endParaRPr lang="en-US" sz="1500" b="0" u="none" strike="noStrike">
              <a:solidFill>
                <a:srgbClr val="000000"/>
              </a:solidFill>
              <a:effectLst/>
              <a:uFillTx/>
              <a:latin typeface="Arial"/>
            </a:endParaRPr>
          </a:p>
        </p:txBody>
      </p:sp>
      <p:sp>
        <p:nvSpPr>
          <p:cNvPr id="107" name="Google Shape;149;p10"/>
          <p:cNvSpPr/>
          <p:nvPr/>
        </p:nvSpPr>
        <p:spPr>
          <a:xfrm>
            <a:off x="3657600" y="5029200"/>
            <a:ext cx="7313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0" u="none" strike="noStrike">
                <a:solidFill>
                  <a:srgbClr val="212529"/>
                </a:solidFill>
                <a:effectLst/>
                <a:uFillTx/>
                <a:latin typeface="Calibri"/>
                <a:ea typeface="Calibri"/>
              </a:rPr>
              <a:t>Wi-Fi / 4G / Bluetooth</a:t>
            </a:r>
            <a:endParaRPr lang="en-US" sz="1500" b="0" u="none" strike="noStrike">
              <a:solidFill>
                <a:srgbClr val="000000"/>
              </a:solidFill>
              <a:effectLst/>
              <a:uFillTx/>
              <a:latin typeface="Arial"/>
            </a:endParaRPr>
          </a:p>
        </p:txBody>
      </p:sp>
      <p:pic>
        <p:nvPicPr>
          <p:cNvPr id="108" name="Google Shape;150;p10"/>
          <p:cNvPicPr/>
          <p:nvPr/>
        </p:nvPicPr>
        <p:blipFill>
          <a:blip r:embed="rId1"/>
          <a:stretch/>
        </p:blipFill>
        <p:spPr>
          <a:xfrm>
            <a:off x="6481800" y="1463040"/>
            <a:ext cx="2467800" cy="2467800"/>
          </a:xfrm>
          <a:prstGeom prst="rect">
            <a:avLst/>
          </a:prstGeom>
          <a:noFill/>
          <a:ln w="0">
            <a:noFill/>
          </a:ln>
        </p:spPr>
      </p:pic>
      <p:pic>
        <p:nvPicPr>
          <p:cNvPr id="109" name="Google Shape;151;p10"/>
          <p:cNvPicPr/>
          <p:nvPr/>
        </p:nvPicPr>
        <p:blipFill>
          <a:blip r:embed="rId2"/>
          <a:stretch/>
        </p:blipFill>
        <p:spPr>
          <a:xfrm>
            <a:off x="9648720" y="1575360"/>
            <a:ext cx="1583640" cy="1583640"/>
          </a:xfrm>
          <a:prstGeom prst="rect">
            <a:avLst/>
          </a:prstGeom>
          <a:noFill/>
          <a:ln w="0">
            <a:noFill/>
          </a:ln>
        </p:spPr>
      </p:pic>
      <p:pic>
        <p:nvPicPr>
          <p:cNvPr id="110" name="Google Shape;152;p10"/>
          <p:cNvPicPr/>
          <p:nvPr/>
        </p:nvPicPr>
        <p:blipFill>
          <a:blip r:embed="rId3"/>
          <a:stretch/>
        </p:blipFill>
        <p:spPr>
          <a:xfrm>
            <a:off x="9573840" y="3501000"/>
            <a:ext cx="2011320" cy="1854000"/>
          </a:xfrm>
          <a:prstGeom prst="rect">
            <a:avLst/>
          </a:prstGeom>
          <a:noFill/>
          <a:ln w="0">
            <a:noFill/>
          </a:ln>
        </p:spPr>
      </p:pic>
      <p:pic>
        <p:nvPicPr>
          <p:cNvPr id="111" name="Google Shape;153;p10"/>
          <p:cNvPicPr/>
          <p:nvPr/>
        </p:nvPicPr>
        <p:blipFill>
          <a:blip r:embed="rId4"/>
          <a:stretch/>
        </p:blipFill>
        <p:spPr>
          <a:xfrm>
            <a:off x="6831720" y="4010040"/>
            <a:ext cx="2189520" cy="218952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Google Shape;159;p11"/>
          <p:cNvSpPr/>
          <p:nvPr/>
        </p:nvSpPr>
        <p:spPr>
          <a:xfrm>
            <a:off x="457200" y="457200"/>
            <a:ext cx="11245680" cy="7300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Sample Dashboard &amp; Visualization</a:t>
            </a:r>
            <a:endParaRPr lang="en-US" sz="3200" b="0" u="none" strike="noStrike">
              <a:solidFill>
                <a:srgbClr val="000000"/>
              </a:solidFill>
              <a:effectLst/>
              <a:uFillTx/>
              <a:latin typeface="Arial"/>
            </a:endParaRPr>
          </a:p>
        </p:txBody>
      </p:sp>
      <p:sp>
        <p:nvSpPr>
          <p:cNvPr id="113" name="Google Shape;160;p11"/>
          <p:cNvSpPr/>
          <p:nvPr/>
        </p:nvSpPr>
        <p:spPr>
          <a:xfrm>
            <a:off x="457200" y="1188720"/>
            <a:ext cx="11245680" cy="4428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114" name="Google Shape;161;p11"/>
          <p:cNvSpPr/>
          <p:nvPr/>
        </p:nvSpPr>
        <p:spPr>
          <a:xfrm>
            <a:off x="457200" y="1368000"/>
            <a:ext cx="3437640" cy="4478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70" b="1" u="none" strike="noStrike">
                <a:solidFill>
                  <a:srgbClr val="1E2761"/>
                </a:solidFill>
                <a:effectLst/>
                <a:uFillTx/>
                <a:latin typeface="Calibri"/>
                <a:ea typeface="Calibri"/>
              </a:rPr>
              <a:t>Pothole Event JSON</a:t>
            </a:r>
            <a:endParaRPr lang="en-US" sz="1570" b="0" u="none" strike="noStrike">
              <a:solidFill>
                <a:srgbClr val="000000"/>
              </a:solidFill>
              <a:effectLst/>
              <a:uFillTx/>
              <a:latin typeface="Arial"/>
            </a:endParaRPr>
          </a:p>
        </p:txBody>
      </p:sp>
      <p:sp>
        <p:nvSpPr>
          <p:cNvPr id="115" name="Google Shape;162;p11"/>
          <p:cNvSpPr/>
          <p:nvPr/>
        </p:nvSpPr>
        <p:spPr>
          <a:xfrm>
            <a:off x="519840" y="1789920"/>
            <a:ext cx="3437640" cy="313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80" b="0" u="none" strike="noStrike">
                <a:solidFill>
                  <a:srgbClr val="212529"/>
                </a:solidFill>
                <a:effectLst/>
                <a:uFillTx/>
                <a:latin typeface="Courier New"/>
                <a:ea typeface="Courier New"/>
              </a:rPr>
              <a:t>{</a:t>
            </a:r>
            <a:endParaRPr lang="en-US" sz="1080" b="0" u="none" strike="noStrike">
              <a:solidFill>
                <a:srgbClr val="000000"/>
              </a:solidFill>
              <a:effectLst/>
              <a:uFillTx/>
              <a:latin typeface="Arial"/>
            </a:endParaRPr>
          </a:p>
        </p:txBody>
      </p:sp>
      <p:sp>
        <p:nvSpPr>
          <p:cNvPr id="116" name="Google Shape;163;p11"/>
          <p:cNvSpPr/>
          <p:nvPr/>
        </p:nvSpPr>
        <p:spPr>
          <a:xfrm>
            <a:off x="519840" y="2104200"/>
            <a:ext cx="3437640" cy="313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80" b="0" u="none" strike="noStrike">
                <a:solidFill>
                  <a:srgbClr val="212529"/>
                </a:solidFill>
                <a:effectLst/>
                <a:uFillTx/>
                <a:latin typeface="Courier New"/>
                <a:ea typeface="Courier New"/>
              </a:rPr>
              <a:t>  "event": "pothole",</a:t>
            </a:r>
            <a:endParaRPr lang="en-US" sz="1080" b="0" u="none" strike="noStrike">
              <a:solidFill>
                <a:srgbClr val="000000"/>
              </a:solidFill>
              <a:effectLst/>
              <a:uFillTx/>
              <a:latin typeface="Arial"/>
            </a:endParaRPr>
          </a:p>
        </p:txBody>
      </p:sp>
      <p:sp>
        <p:nvSpPr>
          <p:cNvPr id="117" name="Google Shape;164;p11"/>
          <p:cNvSpPr/>
          <p:nvPr/>
        </p:nvSpPr>
        <p:spPr>
          <a:xfrm>
            <a:off x="519840" y="2418480"/>
            <a:ext cx="3437640" cy="313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80" b="0" u="none" strike="noStrike">
                <a:solidFill>
                  <a:srgbClr val="212529"/>
                </a:solidFill>
                <a:effectLst/>
                <a:uFillTx/>
                <a:latin typeface="Courier New"/>
                <a:ea typeface="Courier New"/>
              </a:rPr>
              <a:t>  "lat": 12.9716,</a:t>
            </a:r>
            <a:endParaRPr lang="en-US" sz="1080" b="0" u="none" strike="noStrike">
              <a:solidFill>
                <a:srgbClr val="000000"/>
              </a:solidFill>
              <a:effectLst/>
              <a:uFillTx/>
              <a:latin typeface="Arial"/>
            </a:endParaRPr>
          </a:p>
        </p:txBody>
      </p:sp>
      <p:sp>
        <p:nvSpPr>
          <p:cNvPr id="118" name="Google Shape;165;p11"/>
          <p:cNvSpPr/>
          <p:nvPr/>
        </p:nvSpPr>
        <p:spPr>
          <a:xfrm>
            <a:off x="519840" y="2732760"/>
            <a:ext cx="3437640" cy="313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80" b="0" u="none" strike="noStrike">
                <a:solidFill>
                  <a:srgbClr val="212529"/>
                </a:solidFill>
                <a:effectLst/>
                <a:uFillTx/>
                <a:latin typeface="Courier New"/>
                <a:ea typeface="Courier New"/>
              </a:rPr>
              <a:t>  "lon": 77.5946,</a:t>
            </a:r>
            <a:endParaRPr lang="en-US" sz="1080" b="0" u="none" strike="noStrike">
              <a:solidFill>
                <a:srgbClr val="000000"/>
              </a:solidFill>
              <a:effectLst/>
              <a:uFillTx/>
              <a:latin typeface="Arial"/>
            </a:endParaRPr>
          </a:p>
        </p:txBody>
      </p:sp>
      <p:sp>
        <p:nvSpPr>
          <p:cNvPr id="119" name="Google Shape;166;p11"/>
          <p:cNvSpPr/>
          <p:nvPr/>
        </p:nvSpPr>
        <p:spPr>
          <a:xfrm>
            <a:off x="519840" y="3047040"/>
            <a:ext cx="3437640" cy="313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80" b="0" u="none" strike="noStrike">
                <a:solidFill>
                  <a:srgbClr val="212529"/>
                </a:solidFill>
                <a:effectLst/>
                <a:uFillTx/>
                <a:latin typeface="Courier New"/>
                <a:ea typeface="Courier New"/>
              </a:rPr>
              <a:t>  "severity": 0.82,</a:t>
            </a:r>
            <a:endParaRPr lang="en-US" sz="1080" b="0" u="none" strike="noStrike">
              <a:solidFill>
                <a:srgbClr val="000000"/>
              </a:solidFill>
              <a:effectLst/>
              <a:uFillTx/>
              <a:latin typeface="Arial"/>
            </a:endParaRPr>
          </a:p>
        </p:txBody>
      </p:sp>
      <p:sp>
        <p:nvSpPr>
          <p:cNvPr id="120" name="Google Shape;167;p11"/>
          <p:cNvSpPr/>
          <p:nvPr/>
        </p:nvSpPr>
        <p:spPr>
          <a:xfrm>
            <a:off x="519840" y="3361680"/>
            <a:ext cx="3437640" cy="313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80" b="0" u="none" strike="noStrike">
                <a:solidFill>
                  <a:srgbClr val="212529"/>
                </a:solidFill>
                <a:effectLst/>
                <a:uFillTx/>
                <a:latin typeface="Courier New"/>
                <a:ea typeface="Courier New"/>
              </a:rPr>
              <a:t>  "speed": 32,</a:t>
            </a:r>
            <a:endParaRPr lang="en-US" sz="1080" b="0" u="none" strike="noStrike">
              <a:solidFill>
                <a:srgbClr val="000000"/>
              </a:solidFill>
              <a:effectLst/>
              <a:uFillTx/>
              <a:latin typeface="Arial"/>
            </a:endParaRPr>
          </a:p>
        </p:txBody>
      </p:sp>
      <p:sp>
        <p:nvSpPr>
          <p:cNvPr id="121" name="Google Shape;168;p11"/>
          <p:cNvSpPr/>
          <p:nvPr/>
        </p:nvSpPr>
        <p:spPr>
          <a:xfrm>
            <a:off x="519840" y="3675960"/>
            <a:ext cx="3437640" cy="313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80" b="0" u="none" strike="noStrike">
                <a:solidFill>
                  <a:srgbClr val="212529"/>
                </a:solidFill>
                <a:effectLst/>
                <a:uFillTx/>
                <a:latin typeface="Courier New"/>
                <a:ea typeface="Courier New"/>
              </a:rPr>
              <a:t>  "timestamp": "2026-10-04T21:00:00"</a:t>
            </a:r>
            <a:endParaRPr lang="en-US" sz="1080" b="0" u="none" strike="noStrike">
              <a:solidFill>
                <a:srgbClr val="000000"/>
              </a:solidFill>
              <a:effectLst/>
              <a:uFillTx/>
              <a:latin typeface="Arial"/>
            </a:endParaRPr>
          </a:p>
        </p:txBody>
      </p:sp>
      <p:sp>
        <p:nvSpPr>
          <p:cNvPr id="122" name="Google Shape;169;p11"/>
          <p:cNvSpPr/>
          <p:nvPr/>
        </p:nvSpPr>
        <p:spPr>
          <a:xfrm>
            <a:off x="519840" y="3990240"/>
            <a:ext cx="3437640" cy="313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80" b="0" u="none" strike="noStrike">
                <a:solidFill>
                  <a:srgbClr val="212529"/>
                </a:solidFill>
                <a:effectLst/>
                <a:uFillTx/>
                <a:latin typeface="Courier New"/>
                <a:ea typeface="Courier New"/>
              </a:rPr>
              <a:t>}</a:t>
            </a:r>
            <a:endParaRPr lang="en-US" sz="1080" b="0" u="none" strike="noStrike">
              <a:solidFill>
                <a:srgbClr val="000000"/>
              </a:solidFill>
              <a:effectLst/>
              <a:uFillTx/>
              <a:latin typeface="Arial"/>
            </a:endParaRPr>
          </a:p>
        </p:txBody>
      </p:sp>
      <p:sp>
        <p:nvSpPr>
          <p:cNvPr id="123" name="Google Shape;170;p11"/>
          <p:cNvSpPr/>
          <p:nvPr/>
        </p:nvSpPr>
        <p:spPr>
          <a:xfrm>
            <a:off x="457200" y="4304520"/>
            <a:ext cx="3437640" cy="4478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70" b="1" u="none" strike="noStrike">
                <a:solidFill>
                  <a:srgbClr val="1E2761"/>
                </a:solidFill>
                <a:effectLst/>
                <a:uFillTx/>
                <a:latin typeface="Calibri"/>
                <a:ea typeface="Calibri"/>
              </a:rPr>
              <a:t>Features</a:t>
            </a:r>
            <a:endParaRPr lang="en-US" sz="1570" b="0" u="none" strike="noStrike">
              <a:solidFill>
                <a:srgbClr val="000000"/>
              </a:solidFill>
              <a:effectLst/>
              <a:uFillTx/>
              <a:latin typeface="Arial"/>
            </a:endParaRPr>
          </a:p>
        </p:txBody>
      </p:sp>
      <p:sp>
        <p:nvSpPr>
          <p:cNvPr id="124" name="Google Shape;171;p11"/>
          <p:cNvSpPr/>
          <p:nvPr/>
        </p:nvSpPr>
        <p:spPr>
          <a:xfrm>
            <a:off x="457200" y="475344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Real-time location plotting</a:t>
            </a:r>
            <a:endParaRPr lang="en-US" sz="1400" b="0" u="none" strike="noStrike">
              <a:solidFill>
                <a:srgbClr val="000000"/>
              </a:solidFill>
              <a:effectLst/>
              <a:uFillTx/>
              <a:latin typeface="Arial"/>
            </a:endParaRPr>
          </a:p>
        </p:txBody>
      </p:sp>
      <p:sp>
        <p:nvSpPr>
          <p:cNvPr id="125" name="Google Shape;172;p11"/>
          <p:cNvSpPr/>
          <p:nvPr/>
        </p:nvSpPr>
        <p:spPr>
          <a:xfrm>
            <a:off x="457200" y="521064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Historical data view</a:t>
            </a:r>
            <a:endParaRPr lang="en-US" sz="1400" b="0" u="none" strike="noStrike">
              <a:solidFill>
                <a:srgbClr val="000000"/>
              </a:solidFill>
              <a:effectLst/>
              <a:uFillTx/>
              <a:latin typeface="Arial"/>
            </a:endParaRPr>
          </a:p>
        </p:txBody>
      </p:sp>
      <p:sp>
        <p:nvSpPr>
          <p:cNvPr id="126" name="Google Shape;173;p11"/>
          <p:cNvSpPr/>
          <p:nvPr/>
        </p:nvSpPr>
        <p:spPr>
          <a:xfrm>
            <a:off x="457200" y="566784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Date/Severity filtering</a:t>
            </a:r>
            <a:endParaRPr lang="en-US" sz="1400" b="0" u="none" strike="noStrike">
              <a:solidFill>
                <a:srgbClr val="000000"/>
              </a:solidFill>
              <a:effectLst/>
              <a:uFillTx/>
              <a:latin typeface="Arial"/>
            </a:endParaRPr>
          </a:p>
        </p:txBody>
      </p:sp>
      <p:sp>
        <p:nvSpPr>
          <p:cNvPr id="127" name="Google Shape;174;p11"/>
          <p:cNvSpPr/>
          <p:nvPr/>
        </p:nvSpPr>
        <p:spPr>
          <a:xfrm>
            <a:off x="457200" y="612504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Interactive map UI</a:t>
            </a:r>
            <a:endParaRPr lang="en-US" sz="1400" b="0" u="none" strike="noStrike">
              <a:solidFill>
                <a:srgbClr val="000000"/>
              </a:solidFill>
              <a:effectLst/>
              <a:uFillTx/>
              <a:latin typeface="Arial"/>
            </a:endParaRPr>
          </a:p>
        </p:txBody>
      </p:sp>
      <p:pic>
        <p:nvPicPr>
          <p:cNvPr id="128" name="Google Shape;175;p11"/>
          <p:cNvPicPr/>
          <p:nvPr/>
        </p:nvPicPr>
        <p:blipFill>
          <a:blip r:embed="rId1"/>
          <a:stretch/>
        </p:blipFill>
        <p:spPr>
          <a:xfrm>
            <a:off x="3958200" y="1383480"/>
            <a:ext cx="7744680" cy="519732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Google Shape;181;p12"/>
          <p:cNvSpPr/>
          <p:nvPr/>
        </p:nvSpPr>
        <p:spPr>
          <a:xfrm>
            <a:off x="457200" y="457200"/>
            <a:ext cx="11245680" cy="7300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Major Advantages of RPDS</a:t>
            </a:r>
            <a:endParaRPr lang="en-US" sz="3200" b="0" u="none" strike="noStrike">
              <a:solidFill>
                <a:srgbClr val="000000"/>
              </a:solidFill>
              <a:effectLst/>
              <a:uFillTx/>
              <a:latin typeface="Arial"/>
            </a:endParaRPr>
          </a:p>
        </p:txBody>
      </p:sp>
      <p:sp>
        <p:nvSpPr>
          <p:cNvPr id="130" name="Google Shape;182;p12"/>
          <p:cNvSpPr/>
          <p:nvPr/>
        </p:nvSpPr>
        <p:spPr>
          <a:xfrm>
            <a:off x="457200" y="1188720"/>
            <a:ext cx="11245680" cy="4428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131" name="Google Shape;183;p12"/>
          <p:cNvSpPr/>
          <p:nvPr/>
        </p:nvSpPr>
        <p:spPr>
          <a:xfrm>
            <a:off x="731520" y="1828800"/>
            <a:ext cx="10514160" cy="547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Low-cost &amp; affordable solution</a:t>
            </a:r>
            <a:endParaRPr lang="en-US" sz="1600" b="0" u="none" strike="noStrike">
              <a:solidFill>
                <a:srgbClr val="000000"/>
              </a:solidFill>
              <a:effectLst/>
              <a:uFillTx/>
              <a:latin typeface="Arial"/>
            </a:endParaRPr>
          </a:p>
        </p:txBody>
      </p:sp>
      <p:sp>
        <p:nvSpPr>
          <p:cNvPr id="132" name="Google Shape;184;p12"/>
          <p:cNvSpPr/>
          <p:nvPr/>
        </p:nvSpPr>
        <p:spPr>
          <a:xfrm>
            <a:off x="731520" y="2468880"/>
            <a:ext cx="10514160" cy="547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Automated &amp; real-time detection</a:t>
            </a:r>
            <a:endParaRPr lang="en-US" sz="1600" b="0" u="none" strike="noStrike">
              <a:solidFill>
                <a:srgbClr val="000000"/>
              </a:solidFill>
              <a:effectLst/>
              <a:uFillTx/>
              <a:latin typeface="Arial"/>
            </a:endParaRPr>
          </a:p>
        </p:txBody>
      </p:sp>
      <p:sp>
        <p:nvSpPr>
          <p:cNvPr id="133" name="Google Shape;185;p12"/>
          <p:cNvSpPr/>
          <p:nvPr/>
        </p:nvSpPr>
        <p:spPr>
          <a:xfrm>
            <a:off x="731520" y="3108960"/>
            <a:ext cx="10514160" cy="547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Accurate GPS tagging</a:t>
            </a:r>
            <a:endParaRPr lang="en-US" sz="1600" b="0" u="none" strike="noStrike">
              <a:solidFill>
                <a:srgbClr val="000000"/>
              </a:solidFill>
              <a:effectLst/>
              <a:uFillTx/>
              <a:latin typeface="Arial"/>
            </a:endParaRPr>
          </a:p>
        </p:txBody>
      </p:sp>
      <p:sp>
        <p:nvSpPr>
          <p:cNvPr id="134" name="Google Shape;186;p12"/>
          <p:cNvSpPr/>
          <p:nvPr/>
        </p:nvSpPr>
        <p:spPr>
          <a:xfrm>
            <a:off x="731520" y="3749040"/>
            <a:ext cx="10514160" cy="547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Scalable IoT architecture</a:t>
            </a:r>
            <a:endParaRPr lang="en-US" sz="1600" b="0" u="none" strike="noStrike">
              <a:solidFill>
                <a:srgbClr val="000000"/>
              </a:solidFill>
              <a:effectLst/>
              <a:uFillTx/>
              <a:latin typeface="Arial"/>
            </a:endParaRPr>
          </a:p>
        </p:txBody>
      </p:sp>
      <p:sp>
        <p:nvSpPr>
          <p:cNvPr id="135" name="Google Shape;187;p12"/>
          <p:cNvSpPr/>
          <p:nvPr/>
        </p:nvSpPr>
        <p:spPr>
          <a:xfrm>
            <a:off x="731520" y="4389120"/>
            <a:ext cx="10514160" cy="547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Improves with more data</a:t>
            </a:r>
            <a:endParaRPr lang="en-US" sz="1600" b="0" u="none" strike="noStrike">
              <a:solidFill>
                <a:srgbClr val="000000"/>
              </a:solidFill>
              <a:effectLst/>
              <a:uFillTx/>
              <a:latin typeface="Arial"/>
            </a:endParaRPr>
          </a:p>
        </p:txBody>
      </p:sp>
      <p:sp>
        <p:nvSpPr>
          <p:cNvPr id="136" name="Google Shape;188;p12"/>
          <p:cNvSpPr/>
          <p:nvPr/>
        </p:nvSpPr>
        <p:spPr>
          <a:xfrm>
            <a:off x="731520" y="5029200"/>
            <a:ext cx="10514160" cy="547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Practical for smart city applications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Google Shape;194;p13"/>
          <p:cNvSpPr/>
          <p:nvPr/>
        </p:nvSpPr>
        <p:spPr>
          <a:xfrm>
            <a:off x="457200" y="457200"/>
            <a:ext cx="11245680" cy="7300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Major Challenges &amp; Future Scope</a:t>
            </a:r>
            <a:endParaRPr lang="en-US" sz="3200" b="0" u="none" strike="noStrike">
              <a:solidFill>
                <a:srgbClr val="000000"/>
              </a:solidFill>
              <a:effectLst/>
              <a:uFillTx/>
              <a:latin typeface="Arial"/>
            </a:endParaRPr>
          </a:p>
        </p:txBody>
      </p:sp>
      <p:sp>
        <p:nvSpPr>
          <p:cNvPr id="138" name="Google Shape;195;p13"/>
          <p:cNvSpPr/>
          <p:nvPr/>
        </p:nvSpPr>
        <p:spPr>
          <a:xfrm>
            <a:off x="457200" y="1188720"/>
            <a:ext cx="11245680" cy="4428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139" name="Google Shape;196;p13"/>
          <p:cNvSpPr/>
          <p:nvPr/>
        </p:nvSpPr>
        <p:spPr>
          <a:xfrm>
            <a:off x="731520" y="144288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1E2761"/>
                </a:solidFill>
                <a:effectLst/>
                <a:uFillTx/>
                <a:latin typeface="Calibri"/>
                <a:ea typeface="Calibri"/>
              </a:rPr>
              <a:t>Challenges</a:t>
            </a:r>
            <a:endParaRPr lang="en-US" sz="1600" b="0" u="none" strike="noStrike">
              <a:solidFill>
                <a:srgbClr val="000000"/>
              </a:solidFill>
              <a:effectLst/>
              <a:uFillTx/>
              <a:latin typeface="Arial"/>
            </a:endParaRPr>
          </a:p>
        </p:txBody>
      </p:sp>
      <p:sp>
        <p:nvSpPr>
          <p:cNvPr id="140" name="Google Shape;197;p13"/>
          <p:cNvSpPr/>
          <p:nvPr/>
        </p:nvSpPr>
        <p:spPr>
          <a:xfrm>
            <a:off x="822960" y="190008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False positives</a:t>
            </a:r>
            <a:endParaRPr lang="en-US" sz="1400" b="0" u="none" strike="noStrike">
              <a:solidFill>
                <a:srgbClr val="000000"/>
              </a:solidFill>
              <a:effectLst/>
              <a:uFillTx/>
              <a:latin typeface="Arial"/>
            </a:endParaRPr>
          </a:p>
        </p:txBody>
      </p:sp>
      <p:sp>
        <p:nvSpPr>
          <p:cNvPr id="141" name="Google Shape;198;p13"/>
          <p:cNvSpPr/>
          <p:nvPr/>
        </p:nvSpPr>
        <p:spPr>
          <a:xfrm>
            <a:off x="822960" y="235728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Vehicle variations</a:t>
            </a:r>
            <a:endParaRPr lang="en-US" sz="1400" b="0" u="none" strike="noStrike">
              <a:solidFill>
                <a:srgbClr val="000000"/>
              </a:solidFill>
              <a:effectLst/>
              <a:uFillTx/>
              <a:latin typeface="Arial"/>
            </a:endParaRPr>
          </a:p>
        </p:txBody>
      </p:sp>
      <p:sp>
        <p:nvSpPr>
          <p:cNvPr id="142" name="Google Shape;199;p13"/>
          <p:cNvSpPr/>
          <p:nvPr/>
        </p:nvSpPr>
        <p:spPr>
          <a:xfrm>
            <a:off x="822960" y="281448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GPS accuracy</a:t>
            </a:r>
            <a:endParaRPr lang="en-US" sz="1400" b="0" u="none" strike="noStrike">
              <a:solidFill>
                <a:srgbClr val="000000"/>
              </a:solidFill>
              <a:effectLst/>
              <a:uFillTx/>
              <a:latin typeface="Arial"/>
            </a:endParaRPr>
          </a:p>
        </p:txBody>
      </p:sp>
      <p:sp>
        <p:nvSpPr>
          <p:cNvPr id="143" name="Google Shape;200;p13"/>
          <p:cNvSpPr/>
          <p:nvPr/>
        </p:nvSpPr>
        <p:spPr>
          <a:xfrm>
            <a:off x="822960" y="327168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Limited training data</a:t>
            </a:r>
            <a:endParaRPr lang="en-US" sz="1400" b="0" u="none" strike="noStrike">
              <a:solidFill>
                <a:srgbClr val="000000"/>
              </a:solidFill>
              <a:effectLst/>
              <a:uFillTx/>
              <a:latin typeface="Arial"/>
            </a:endParaRPr>
          </a:p>
        </p:txBody>
      </p:sp>
      <p:sp>
        <p:nvSpPr>
          <p:cNvPr id="144" name="Google Shape;201;p13"/>
          <p:cNvSpPr/>
          <p:nvPr/>
        </p:nvSpPr>
        <p:spPr>
          <a:xfrm>
            <a:off x="731520" y="372888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1E2761"/>
                </a:solidFill>
                <a:effectLst/>
                <a:uFillTx/>
                <a:latin typeface="Calibri"/>
                <a:ea typeface="Calibri"/>
              </a:rPr>
              <a:t>Future Scope</a:t>
            </a:r>
            <a:endParaRPr lang="en-US" sz="1600" b="0" u="none" strike="noStrike">
              <a:solidFill>
                <a:srgbClr val="000000"/>
              </a:solidFill>
              <a:effectLst/>
              <a:uFillTx/>
              <a:latin typeface="Arial"/>
            </a:endParaRPr>
          </a:p>
        </p:txBody>
      </p:sp>
      <p:sp>
        <p:nvSpPr>
          <p:cNvPr id="145" name="Google Shape;202;p13"/>
          <p:cNvSpPr/>
          <p:nvPr/>
        </p:nvSpPr>
        <p:spPr>
          <a:xfrm>
            <a:off x="822960" y="418608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Camera + YOLO (Sensor Fusion)</a:t>
            </a:r>
            <a:endParaRPr lang="en-US" sz="1400" b="0" u="none" strike="noStrike">
              <a:solidFill>
                <a:srgbClr val="000000"/>
              </a:solidFill>
              <a:effectLst/>
              <a:uFillTx/>
              <a:latin typeface="Arial"/>
            </a:endParaRPr>
          </a:p>
        </p:txBody>
      </p:sp>
      <p:sp>
        <p:nvSpPr>
          <p:cNvPr id="146" name="Google Shape;203;p13"/>
          <p:cNvSpPr/>
          <p:nvPr/>
        </p:nvSpPr>
        <p:spPr>
          <a:xfrm>
            <a:off x="822960" y="464328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Edge AI optimization</a:t>
            </a:r>
            <a:endParaRPr lang="en-US" sz="1400" b="0" u="none" strike="noStrike">
              <a:solidFill>
                <a:srgbClr val="000000"/>
              </a:solidFill>
              <a:effectLst/>
              <a:uFillTx/>
              <a:latin typeface="Arial"/>
            </a:endParaRPr>
          </a:p>
        </p:txBody>
      </p:sp>
      <p:sp>
        <p:nvSpPr>
          <p:cNvPr id="147" name="Google Shape;204;p13"/>
          <p:cNvSpPr/>
          <p:nvPr/>
        </p:nvSpPr>
        <p:spPr>
          <a:xfrm>
            <a:off x="822960" y="510048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Crowdsourced reporting</a:t>
            </a:r>
            <a:endParaRPr lang="en-US" sz="1400" b="0" u="none" strike="noStrike">
              <a:solidFill>
                <a:srgbClr val="000000"/>
              </a:solidFill>
              <a:effectLst/>
              <a:uFillTx/>
              <a:latin typeface="Arial"/>
            </a:endParaRPr>
          </a:p>
        </p:txBody>
      </p:sp>
      <p:sp>
        <p:nvSpPr>
          <p:cNvPr id="148" name="Google Shape;205;p13"/>
          <p:cNvSpPr/>
          <p:nvPr/>
        </p:nvSpPr>
        <p:spPr>
          <a:xfrm>
            <a:off x="822960" y="555768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Road quality heatmaps</a:t>
            </a:r>
            <a:endParaRPr lang="en-US" sz="1400" b="0" u="none" strike="noStrike">
              <a:solidFill>
                <a:srgbClr val="000000"/>
              </a:solidFill>
              <a:effectLst/>
              <a:uFillTx/>
              <a:latin typeface="Arial"/>
            </a:endParaRPr>
          </a:p>
        </p:txBody>
      </p:sp>
      <p:sp>
        <p:nvSpPr>
          <p:cNvPr id="149" name="Google Shape;206;p13"/>
          <p:cNvSpPr/>
          <p:nvPr/>
        </p:nvSpPr>
        <p:spPr>
          <a:xfrm>
            <a:off x="822960" y="6014880"/>
            <a:ext cx="50277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Log to Government</a:t>
            </a:r>
            <a:endParaRPr lang="en-US" sz="1400" b="0" u="none" strike="noStrike">
              <a:solidFill>
                <a:srgbClr val="000000"/>
              </a:solidFill>
              <a:effectLst/>
              <a:uFillTx/>
              <a:latin typeface="Arial"/>
            </a:endParaRPr>
          </a:p>
        </p:txBody>
      </p:sp>
      <p:pic>
        <p:nvPicPr>
          <p:cNvPr id="150" name="Google Shape;207;p13"/>
          <p:cNvPicPr/>
          <p:nvPr/>
        </p:nvPicPr>
        <p:blipFill>
          <a:blip r:embed="rId1"/>
          <a:stretch/>
        </p:blipFill>
        <p:spPr>
          <a:xfrm>
            <a:off x="4399920" y="1497960"/>
            <a:ext cx="3867480" cy="2175120"/>
          </a:xfrm>
          <a:prstGeom prst="rect">
            <a:avLst/>
          </a:prstGeom>
          <a:noFill/>
          <a:ln w="0">
            <a:noFill/>
          </a:ln>
        </p:spPr>
      </p:pic>
      <p:pic>
        <p:nvPicPr>
          <p:cNvPr id="151" name="Google Shape;208;p13"/>
          <p:cNvPicPr/>
          <p:nvPr/>
        </p:nvPicPr>
        <p:blipFill>
          <a:blip r:embed="rId2"/>
          <a:stretch/>
        </p:blipFill>
        <p:spPr>
          <a:xfrm>
            <a:off x="7935480" y="3728880"/>
            <a:ext cx="3767400" cy="287316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Google Shape;195;p 1"/>
          <p:cNvSpPr/>
          <p:nvPr/>
        </p:nvSpPr>
        <p:spPr>
          <a:xfrm>
            <a:off x="457560" y="1188720"/>
            <a:ext cx="11245680" cy="4428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153" name=""/>
          <p:cNvSpPr/>
          <p:nvPr/>
        </p:nvSpPr>
        <p:spPr>
          <a:xfrm>
            <a:off x="64080" y="1822320"/>
            <a:ext cx="12051360" cy="36738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1800" b="0" u="none" strike="noStrike">
                <a:solidFill>
                  <a:srgbClr val="000000"/>
                </a:solidFill>
                <a:effectLst/>
                <a:uFillTx/>
                <a:latin typeface="Calibri"/>
              </a:rPr>
              <a:t>SDG 9: Industry, Innovation, and Infrastructure </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libri"/>
              </a:rPr>
              <a:t>​Justification: RPDS leverages IoT hardware (ESP32, MPU6050 accelerometer, NEO-6M GPS) and Machine Learning (Random Forest) to upgrade public road infrastructure monitoring. Replacing manual, slow, and expensive inspections with automated, data-driven, real-time mapping directly builds resilient transport infrastructure.  </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libri"/>
              </a:rPr>
              <a:t>​SDG 11: Sustainable Cities and Communities </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libri"/>
              </a:rPr>
              <a:t>​Justification: Target 11.2 focuses on providing access to safe, affordable, accessible, and sustainable transport systems for all and improving road safety. RPDS identifies hazardous road defects and maps them on a digital dashboard in real time, allowing municipal authorities to perform proactive repairs and protect road users.  </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libri"/>
              </a:rPr>
              <a:t>​SDG 3: Good Health and Well-Being</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libri"/>
              </a:rPr>
              <a:t>​Justification: Target 3.6 aims to halve the number of global deaths and injuries from road traffic accidents. Unreported potholes frequently cause sudden vehicle loss of control, severe accidents, and physical injuries. RPDS reduces collision risks by enabling early detection and rapid repair</a:t>
            </a:r>
            <a:r>
              <a:rPr lang="en-US" sz="1800" b="0" u="none" strike="noStrike">
                <a:solidFill>
                  <a:srgbClr val="000000"/>
                </a:solidFill>
                <a:effectLst/>
                <a:uFillTx/>
                <a:latin typeface="Arial"/>
              </a:rPr>
              <a:t>.</a:t>
            </a:r>
            <a:endParaRPr lang="en-US" sz="1800" b="0" u="none" strike="noStrike">
              <a:solidFill>
                <a:srgbClr val="000000"/>
              </a:solidFill>
              <a:effectLst/>
              <a:uFillTx/>
              <a:latin typeface="Arial"/>
            </a:endParaRPr>
          </a:p>
        </p:txBody>
      </p:sp>
      <p:sp>
        <p:nvSpPr>
          <p:cNvPr id="154" name=""/>
          <p:cNvSpPr/>
          <p:nvPr/>
        </p:nvSpPr>
        <p:spPr>
          <a:xfrm>
            <a:off x="482400" y="186840"/>
            <a:ext cx="9372240" cy="578160"/>
          </a:xfrm>
          <a:prstGeom prst="rect">
            <a:avLst/>
          </a:prstGeom>
          <a:solidFill>
            <a:srgbClr val="FFFFFF"/>
          </a:solidFill>
          <a:ln w="0">
            <a:noFill/>
          </a:ln>
        </p:spPr>
        <p:style>
          <a:lnRef idx="0"/>
          <a:fillRef idx="0"/>
          <a:effectRef idx="0"/>
          <a:fontRef idx="minor"/>
        </p:style>
        <p:txBody>
          <a:bodyPr lIns="90000" tIns="45000" rIns="90000" bIns="45000" anchor="t">
            <a:spAutoFit/>
          </a:bodyPr>
          <a:p>
            <a:pPr>
              <a:lnSpc>
                <a:spcPct val="100000"/>
              </a:lnSpc>
            </a:pPr>
            <a:r>
              <a:rPr lang="en-US" sz="3200" b="1" u="none" strike="noStrike">
                <a:solidFill>
                  <a:srgbClr val="3465A4"/>
                </a:solidFill>
                <a:effectLst/>
                <a:uFillTx/>
                <a:latin typeface="Calibri"/>
              </a:rPr>
              <a:t>SDG – 3 ,  9 , 11</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Google Shape;214;p14"/>
          <p:cNvSpPr/>
          <p:nvPr/>
        </p:nvSpPr>
        <p:spPr>
          <a:xfrm>
            <a:off x="457200" y="457200"/>
            <a:ext cx="11245680" cy="7300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Conclusion</a:t>
            </a:r>
            <a:endParaRPr lang="en-US" sz="3200" b="0" u="none" strike="noStrike">
              <a:solidFill>
                <a:srgbClr val="000000"/>
              </a:solidFill>
              <a:effectLst/>
              <a:uFillTx/>
              <a:latin typeface="Arial"/>
            </a:endParaRPr>
          </a:p>
        </p:txBody>
      </p:sp>
      <p:sp>
        <p:nvSpPr>
          <p:cNvPr id="156" name="Google Shape;215;p14"/>
          <p:cNvSpPr/>
          <p:nvPr/>
        </p:nvSpPr>
        <p:spPr>
          <a:xfrm>
            <a:off x="457200" y="1188720"/>
            <a:ext cx="11245680" cy="4428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157" name="Google Shape;216;p14"/>
          <p:cNvSpPr/>
          <p:nvPr/>
        </p:nvSpPr>
        <p:spPr>
          <a:xfrm>
            <a:off x="731520" y="2011680"/>
            <a:ext cx="105141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Combines IoT sensors, GPS, ML &amp; mapping effectively</a:t>
            </a:r>
            <a:endParaRPr lang="en-US" sz="1600" b="0" u="none" strike="noStrike">
              <a:solidFill>
                <a:srgbClr val="000000"/>
              </a:solidFill>
              <a:effectLst/>
              <a:uFillTx/>
              <a:latin typeface="Arial"/>
            </a:endParaRPr>
          </a:p>
        </p:txBody>
      </p:sp>
      <p:sp>
        <p:nvSpPr>
          <p:cNvPr id="158" name="Google Shape;217;p14"/>
          <p:cNvSpPr/>
          <p:nvPr/>
        </p:nvSpPr>
        <p:spPr>
          <a:xfrm>
            <a:off x="731520" y="2560320"/>
            <a:ext cx="105141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Cost-effective solution for road condition monitoring</a:t>
            </a:r>
            <a:endParaRPr lang="en-US" sz="1600" b="0" u="none" strike="noStrike">
              <a:solidFill>
                <a:srgbClr val="000000"/>
              </a:solidFill>
              <a:effectLst/>
              <a:uFillTx/>
              <a:latin typeface="Arial"/>
            </a:endParaRPr>
          </a:p>
        </p:txBody>
      </p:sp>
      <p:sp>
        <p:nvSpPr>
          <p:cNvPr id="159" name="Google Shape;218;p14"/>
          <p:cNvSpPr/>
          <p:nvPr/>
        </p:nvSpPr>
        <p:spPr>
          <a:xfrm>
            <a:off x="731520" y="3108960"/>
            <a:ext cx="105141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Enables proactive road maintenance</a:t>
            </a:r>
            <a:endParaRPr lang="en-US" sz="1600" b="0" u="none" strike="noStrike">
              <a:solidFill>
                <a:srgbClr val="000000"/>
              </a:solidFill>
              <a:effectLst/>
              <a:uFillTx/>
              <a:latin typeface="Arial"/>
            </a:endParaRPr>
          </a:p>
        </p:txBody>
      </p:sp>
      <p:sp>
        <p:nvSpPr>
          <p:cNvPr id="160" name="Google Shape;219;p14"/>
          <p:cNvSpPr/>
          <p:nvPr/>
        </p:nvSpPr>
        <p:spPr>
          <a:xfrm>
            <a:off x="731520" y="3657600"/>
            <a:ext cx="105141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Scalable with clear enhancement path</a:t>
            </a:r>
            <a:endParaRPr lang="en-US" sz="1600" b="0" u="none" strike="noStrike">
              <a:solidFill>
                <a:srgbClr val="000000"/>
              </a:solidFill>
              <a:effectLst/>
              <a:uFillTx/>
              <a:latin typeface="Arial"/>
            </a:endParaRPr>
          </a:p>
        </p:txBody>
      </p:sp>
      <p:sp>
        <p:nvSpPr>
          <p:cNvPr id="161" name="Google Shape;220;p14"/>
          <p:cNvSpPr/>
          <p:nvPr/>
        </p:nvSpPr>
        <p:spPr>
          <a:xfrm>
            <a:off x="731520" y="4206240"/>
            <a:ext cx="10514160" cy="4557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Start simple → Collect data → Improve continuously</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162" name="Google Shape;226;p15"/>
          <p:cNvSpPr/>
          <p:nvPr/>
        </p:nvSpPr>
        <p:spPr>
          <a:xfrm>
            <a:off x="457200" y="2743200"/>
            <a:ext cx="11245680" cy="91296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4800" b="1" u="none" strike="noStrike">
                <a:solidFill>
                  <a:srgbClr val="FFFFFF"/>
                </a:solidFill>
                <a:effectLst/>
                <a:uFillTx/>
                <a:latin typeface="Calibri"/>
                <a:ea typeface="Calibri"/>
              </a:rPr>
              <a:t>Thank You</a:t>
            </a:r>
            <a:endParaRPr lang="en-US" sz="4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TotalTime>
  <Application>LibreOffice/26.2.5.2$Linux_X86_64 LibreOffice_project/6d2b0d33fb0f5da53a12f98bed3e9973e56ff1f0</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2026-10-05T14:29:48Z</dcterms:modified>
  <cp:revision>2</cp:revision>
  <dc:subject/>
  <dc:title/>
</cp:coreProperties>
</file>

<file path=docProps/custom.xml><?xml version="1.0" encoding="utf-8"?>
<Properties xmlns="http://schemas.openxmlformats.org/officeDocument/2006/custom-properties" xmlns:vt="http://schemas.openxmlformats.org/officeDocument/2006/docPropsVTypes"/>
</file>