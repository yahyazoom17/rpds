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</p:sldIdLst>
  <p:sldSz cy="6858000" cx="12192000"/>
  <p:notesSz cx="6858000" cy="12192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DE99E8F4-FE3A-4AA6-998A-0E89F5064642}">
  <a:tblStyle styleId="{DE99E8F4-FE3A-4AA6-998A-0E89F506464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216000" y="812520"/>
            <a:ext cx="7127280" cy="400896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5" name="Google Shape;5;n"/>
          <p:cNvSpPr txBox="1"/>
          <p:nvPr>
            <p:ph idx="3"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6" name="Google Shape;6;n"/>
          <p:cNvSpPr txBox="1"/>
          <p:nvPr>
            <p:ph idx="10" type="dt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imes New Roman"/>
              <a:buNone/>
              <a:defRPr b="0" i="0" sz="1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imes New Roman"/>
              <a:buNone/>
              <a:defRPr b="0" i="0" sz="1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imes New Roman"/>
              <a:buNone/>
            </a:pPr>
            <a:fld id="{00000000-1234-1234-1234-123412341234}" type="slidenum">
              <a:rPr b="0" i="0" lang="en-US" sz="1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1:notes"/>
          <p:cNvSpPr/>
          <p:nvPr>
            <p:ph idx="2" type="sldImg"/>
          </p:nvPr>
        </p:nvSpPr>
        <p:spPr>
          <a:xfrm>
            <a:off x="685800" y="1143000"/>
            <a:ext cx="5486040" cy="308592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5" name="Google Shape;15;p1:notes"/>
          <p:cNvSpPr txBox="1"/>
          <p:nvPr>
            <p:ph idx="1"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b="0" sz="18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" name="Google Shape;16;p1:notes"/>
          <p:cNvSpPr txBox="1"/>
          <p:nvPr>
            <p:ph idx="12" type="sldNum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2:notes"/>
          <p:cNvSpPr/>
          <p:nvPr>
            <p:ph idx="2" type="sldImg"/>
          </p:nvPr>
        </p:nvSpPr>
        <p:spPr>
          <a:xfrm>
            <a:off x="685800" y="1143000"/>
            <a:ext cx="5486040" cy="308592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" name="Google Shape;22;p2:notes"/>
          <p:cNvSpPr txBox="1"/>
          <p:nvPr>
            <p:ph idx="1"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b="0" sz="18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23;p2:notes"/>
          <p:cNvSpPr txBox="1"/>
          <p:nvPr>
            <p:ph idx="12" type="sldNum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3:notes"/>
          <p:cNvSpPr/>
          <p:nvPr>
            <p:ph idx="2" type="sldImg"/>
          </p:nvPr>
        </p:nvSpPr>
        <p:spPr>
          <a:xfrm>
            <a:off x="685800" y="1143000"/>
            <a:ext cx="5486040" cy="308592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6" name="Google Shape;36;p3:notes"/>
          <p:cNvSpPr txBox="1"/>
          <p:nvPr>
            <p:ph idx="1"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b="0" sz="18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3:notes"/>
          <p:cNvSpPr txBox="1"/>
          <p:nvPr>
            <p:ph idx="12" type="sldNum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fld id="{00000000-1234-1234-1234-123412341234}" type="slidenum">
              <a:rPr b="0" lang="en-US" sz="1200" u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sz="1200" u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4:notes"/>
          <p:cNvSpPr/>
          <p:nvPr>
            <p:ph idx="2" type="sldImg"/>
          </p:nvPr>
        </p:nvSpPr>
        <p:spPr>
          <a:xfrm>
            <a:off x="685800" y="1143000"/>
            <a:ext cx="5486040" cy="308592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0" name="Google Shape;50;p4:notes"/>
          <p:cNvSpPr txBox="1"/>
          <p:nvPr>
            <p:ph idx="1"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b="0" sz="18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" name="Google Shape;51;p4:notes"/>
          <p:cNvSpPr txBox="1"/>
          <p:nvPr>
            <p:ph idx="12" type="sldNum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fld id="{00000000-1234-1234-1234-123412341234}" type="slidenum">
              <a:rPr b="0" lang="en-US" sz="1200" u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sz="1200" u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5:notes"/>
          <p:cNvSpPr/>
          <p:nvPr>
            <p:ph idx="2" type="sldImg"/>
          </p:nvPr>
        </p:nvSpPr>
        <p:spPr>
          <a:xfrm>
            <a:off x="685800" y="1143000"/>
            <a:ext cx="5486040" cy="308592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1" name="Google Shape;81;p5:notes"/>
          <p:cNvSpPr txBox="1"/>
          <p:nvPr>
            <p:ph idx="1"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b="0" sz="18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" name="Google Shape;82;p5:notes"/>
          <p:cNvSpPr txBox="1"/>
          <p:nvPr>
            <p:ph idx="12" type="sldNum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fld id="{00000000-1234-1234-1234-123412341234}" type="slidenum">
              <a:rPr b="0" lang="en-US" sz="1200" u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sz="1200" u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685800" y="1143000"/>
            <a:ext cx="5486040" cy="308592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b="0" sz="18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" name="Google Shape;90;p6:notes"/>
          <p:cNvSpPr txBox="1"/>
          <p:nvPr>
            <p:ph idx="12" type="sldNum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fld id="{00000000-1234-1234-1234-123412341234}" type="slidenum">
              <a:rPr b="0" lang="en-US" sz="1200" u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sz="1200" u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8:notes"/>
          <p:cNvSpPr/>
          <p:nvPr>
            <p:ph idx="2" type="sldImg"/>
          </p:nvPr>
        </p:nvSpPr>
        <p:spPr>
          <a:xfrm>
            <a:off x="685800" y="1143000"/>
            <a:ext cx="5486040" cy="308592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14" name="Google Shape;114;p8:notes"/>
          <p:cNvSpPr txBox="1"/>
          <p:nvPr>
            <p:ph idx="1"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b="0" sz="18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" name="Google Shape;115;p8:notes"/>
          <p:cNvSpPr txBox="1"/>
          <p:nvPr>
            <p:ph idx="12" type="sldNum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fld id="{00000000-1234-1234-1234-123412341234}" type="slidenum">
              <a:rPr b="0" lang="en-US" sz="1200" u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sz="1200" u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9:notes"/>
          <p:cNvSpPr/>
          <p:nvPr>
            <p:ph idx="2" type="sldImg"/>
          </p:nvPr>
        </p:nvSpPr>
        <p:spPr>
          <a:xfrm>
            <a:off x="685800" y="1143000"/>
            <a:ext cx="5486040" cy="308592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33" name="Google Shape;133;p9:notes"/>
          <p:cNvSpPr txBox="1"/>
          <p:nvPr>
            <p:ph idx="1"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b="0" sz="18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4" name="Google Shape;134;p9:notes"/>
          <p:cNvSpPr txBox="1"/>
          <p:nvPr>
            <p:ph idx="12" type="sldNum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fld id="{00000000-1234-1234-1234-123412341234}" type="slidenum">
              <a:rPr b="0" lang="en-US" sz="1200" u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sz="1200" u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040" cy="308592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56" name="Google Shape;156;p10:notes"/>
          <p:cNvSpPr txBox="1"/>
          <p:nvPr>
            <p:ph idx="1"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b="0" sz="18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7" name="Google Shape;157;p10:notes"/>
          <p:cNvSpPr txBox="1"/>
          <p:nvPr>
            <p:ph idx="12" type="sldNum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fld id="{00000000-1234-1234-1234-123412341234}" type="slidenum">
              <a:rPr b="0" lang="en-US" sz="1200" u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sz="1200" u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12:notes"/>
          <p:cNvSpPr/>
          <p:nvPr>
            <p:ph idx="2" type="sldImg"/>
          </p:nvPr>
        </p:nvSpPr>
        <p:spPr>
          <a:xfrm>
            <a:off x="685800" y="1143000"/>
            <a:ext cx="5486040" cy="308592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8" name="Google Shape;178;p12:notes"/>
          <p:cNvSpPr txBox="1"/>
          <p:nvPr>
            <p:ph idx="1"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b="0" sz="18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12:notes"/>
          <p:cNvSpPr txBox="1"/>
          <p:nvPr>
            <p:ph idx="12" type="sldNum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fld id="{00000000-1234-1234-1234-123412341234}" type="slidenum">
              <a:rPr b="0" lang="en-US" sz="1200" u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sz="1200" u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040" cy="308592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91" name="Google Shape;191;p13:notes"/>
          <p:cNvSpPr txBox="1"/>
          <p:nvPr>
            <p:ph idx="1"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b="0" sz="18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13:notes"/>
          <p:cNvSpPr txBox="1"/>
          <p:nvPr>
            <p:ph idx="12" type="sldNum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fld id="{00000000-1234-1234-1234-123412341234}" type="slidenum">
              <a:rPr b="0" lang="en-US" sz="1200" u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sz="1200" u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14:notes"/>
          <p:cNvSpPr/>
          <p:nvPr>
            <p:ph idx="2" type="sldImg"/>
          </p:nvPr>
        </p:nvSpPr>
        <p:spPr>
          <a:xfrm>
            <a:off x="685800" y="1143000"/>
            <a:ext cx="5486040" cy="308592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11" name="Google Shape;211;p14:notes"/>
          <p:cNvSpPr txBox="1"/>
          <p:nvPr>
            <p:ph idx="1"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b="0" sz="18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2" name="Google Shape;212;p14:notes"/>
          <p:cNvSpPr txBox="1"/>
          <p:nvPr>
            <p:ph idx="12" type="sldNum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fld id="{00000000-1234-1234-1234-123412341234}" type="slidenum">
              <a:rPr b="0" lang="en-US" sz="1200" u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sz="1200" u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5:notes"/>
          <p:cNvSpPr/>
          <p:nvPr>
            <p:ph idx="2" type="sldImg"/>
          </p:nvPr>
        </p:nvSpPr>
        <p:spPr>
          <a:xfrm>
            <a:off x="685800" y="1143000"/>
            <a:ext cx="5486040" cy="308592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3" name="Google Shape;223;p15:notes"/>
          <p:cNvSpPr txBox="1"/>
          <p:nvPr>
            <p:ph idx="1"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b="0" sz="18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4" name="Google Shape;224;p15:notes"/>
          <p:cNvSpPr txBox="1"/>
          <p:nvPr>
            <p:ph idx="12" type="sldNum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fld id="{00000000-1234-1234-1234-123412341234}" type="slidenum">
              <a:rPr b="0" lang="en-US" sz="1200" u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sz="1200" u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 type="blank">
  <p:cSld name="BLANK">
    <p:spTree>
      <p:nvGrpSpPr>
        <p:cNvPr id="12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20040" lvl="0" marL="457200" marR="0" rtl="0" algn="l">
              <a:spcBef>
                <a:spcPts val="1417"/>
              </a:spcBef>
              <a:spcAft>
                <a:spcPts val="0"/>
              </a:spcAft>
              <a:buClr>
                <a:srgbClr val="000000"/>
              </a:buClr>
              <a:buSzPts val="1440"/>
              <a:buFont typeface="Noto Sans Symbols"/>
              <a:buChar char="●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marR="0" rtl="0" algn="l">
              <a:spcBef>
                <a:spcPts val="1134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Noto Sans Symbols"/>
              <a:buChar char="−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85750" lvl="2" marL="1371600" marR="0" rtl="0" algn="l">
              <a:spcBef>
                <a:spcPts val="85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Noto Sans Symbols"/>
              <a:buChar char="●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rtl="0" algn="l">
              <a:spcBef>
                <a:spcPts val="567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Noto Sans Symbols"/>
              <a:buChar char="−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85750" lvl="4" marL="2286000" marR="0" rtl="0" algn="l">
              <a:spcBef>
                <a:spcPts val="283"/>
              </a:spcBef>
              <a:spcAft>
                <a:spcPts val="0"/>
              </a:spcAft>
              <a:buClr>
                <a:srgbClr val="000000"/>
              </a:buClr>
              <a:buSzPts val="900"/>
              <a:buFont typeface="Noto Sans Symbols"/>
              <a:buChar char="●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85750" lvl="5" marL="2743200" marR="0" rtl="0" algn="l">
              <a:spcBef>
                <a:spcPts val="283"/>
              </a:spcBef>
              <a:spcAft>
                <a:spcPts val="0"/>
              </a:spcAft>
              <a:buClr>
                <a:srgbClr val="000000"/>
              </a:buClr>
              <a:buSzPts val="900"/>
              <a:buFont typeface="Noto Sans Symbols"/>
              <a:buChar char="●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85750" lvl="6" marL="3200400" marR="0" rtl="0" algn="l">
              <a:spcBef>
                <a:spcPts val="283"/>
              </a:spcBef>
              <a:spcAft>
                <a:spcPts val="0"/>
              </a:spcAft>
              <a:buClr>
                <a:srgbClr val="000000"/>
              </a:buClr>
              <a:buSzPts val="900"/>
              <a:buFont typeface="Noto Sans Symbols"/>
              <a:buChar char="●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6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image" Target="../media/image3.png"/><Relationship Id="rId6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9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E2761"/>
        </a:solidFill>
      </p:bgPr>
    </p:bg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3"/>
          <p:cNvSpPr/>
          <p:nvPr/>
        </p:nvSpPr>
        <p:spPr>
          <a:xfrm>
            <a:off x="472680" y="2880720"/>
            <a:ext cx="11246760" cy="1096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Road Pothole Detection System</a:t>
            </a:r>
            <a:endParaRPr b="0" i="0" sz="44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3"/>
          <p:cNvSpPr/>
          <p:nvPr/>
        </p:nvSpPr>
        <p:spPr>
          <a:xfrm>
            <a:off x="457200" y="3657600"/>
            <a:ext cx="11246760" cy="731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IoT + AI Based Smart Road Monitoring Device</a:t>
            </a:r>
            <a:endParaRPr b="0" i="0" sz="2000" u="none" cap="none" strike="noStrike">
              <a:solidFill>
                <a:srgbClr val="FFFF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4"/>
          <p:cNvSpPr/>
          <p:nvPr/>
        </p:nvSpPr>
        <p:spPr>
          <a:xfrm>
            <a:off x="457200" y="457200"/>
            <a:ext cx="11246760" cy="731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200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The Obvious </a:t>
            </a:r>
            <a:r>
              <a:rPr b="1" i="0" lang="en-US" sz="32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Problem</a:t>
            </a:r>
            <a:endParaRPr b="0" i="0" sz="3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" name="Google Shape;26;p4"/>
          <p:cNvSpPr/>
          <p:nvPr/>
        </p:nvSpPr>
        <p:spPr>
          <a:xfrm>
            <a:off x="457200" y="1188720"/>
            <a:ext cx="11246760" cy="45360"/>
          </a:xfrm>
          <a:prstGeom prst="rect">
            <a:avLst/>
          </a:prstGeom>
          <a:solidFill>
            <a:srgbClr val="F96167"/>
          </a:solidFill>
          <a:ln cap="flat" cmpd="sng" w="12700">
            <a:solidFill>
              <a:srgbClr val="F9616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00" lIns="90000" spcFirstLastPara="1" rIns="90000" wrap="square" tIns="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1800" u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" name="Google Shape;27;p4"/>
          <p:cNvSpPr/>
          <p:nvPr/>
        </p:nvSpPr>
        <p:spPr>
          <a:xfrm>
            <a:off x="731520" y="1828800"/>
            <a:ext cx="10515240" cy="548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800" u="none" strike="noStrike">
                <a:solidFill>
                  <a:srgbClr val="212529"/>
                </a:solidFill>
                <a:latin typeface="Calibri"/>
                <a:ea typeface="Calibri"/>
                <a:cs typeface="Calibri"/>
                <a:sym typeface="Calibri"/>
              </a:rPr>
              <a:t>• Potholes pose serious safety risks to vehicles and road users</a:t>
            </a:r>
            <a:endParaRPr b="0" sz="18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" name="Google Shape;28;p4"/>
          <p:cNvSpPr/>
          <p:nvPr/>
        </p:nvSpPr>
        <p:spPr>
          <a:xfrm>
            <a:off x="731520" y="2468880"/>
            <a:ext cx="10515240" cy="548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800" u="none" strike="noStrike">
                <a:solidFill>
                  <a:srgbClr val="212529"/>
                </a:solidFill>
                <a:latin typeface="Calibri"/>
                <a:ea typeface="Calibri"/>
                <a:cs typeface="Calibri"/>
                <a:sym typeface="Calibri"/>
              </a:rPr>
              <a:t>• Manual inspection is slow, costly, and difficult to scale</a:t>
            </a:r>
            <a:endParaRPr b="0" sz="18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4"/>
          <p:cNvSpPr/>
          <p:nvPr/>
        </p:nvSpPr>
        <p:spPr>
          <a:xfrm>
            <a:off x="731520" y="3108960"/>
            <a:ext cx="10515240" cy="548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800" u="none" strike="noStrike">
                <a:solidFill>
                  <a:srgbClr val="212529"/>
                </a:solidFill>
                <a:latin typeface="Calibri"/>
                <a:ea typeface="Calibri"/>
                <a:cs typeface="Calibri"/>
                <a:sym typeface="Calibri"/>
              </a:rPr>
              <a:t>• Many potholes go unreported until accidents occur</a:t>
            </a:r>
            <a:endParaRPr b="0" sz="18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" name="Google Shape;30;p4"/>
          <p:cNvSpPr/>
          <p:nvPr/>
        </p:nvSpPr>
        <p:spPr>
          <a:xfrm>
            <a:off x="731520" y="3749040"/>
            <a:ext cx="10515240" cy="548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800" u="none" strike="noStrike">
                <a:solidFill>
                  <a:srgbClr val="212529"/>
                </a:solidFill>
                <a:latin typeface="Calibri"/>
                <a:ea typeface="Calibri"/>
                <a:cs typeface="Calibri"/>
                <a:sym typeface="Calibri"/>
              </a:rPr>
              <a:t>• Need for automated, real-time road condition monitoring</a:t>
            </a:r>
            <a:endParaRPr b="0" sz="18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" name="Google Shape;31;p4"/>
          <p:cNvSpPr/>
          <p:nvPr/>
        </p:nvSpPr>
        <p:spPr>
          <a:xfrm>
            <a:off x="731520" y="4754880"/>
            <a:ext cx="10515240" cy="548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00">
                <a:solidFill>
                  <a:srgbClr val="F96167"/>
                </a:solidFill>
                <a:latin typeface="Calibri"/>
                <a:ea typeface="Calibri"/>
                <a:cs typeface="Calibri"/>
                <a:sym typeface="Calibri"/>
              </a:rPr>
              <a:t>Our Solution</a:t>
            </a:r>
            <a:endParaRPr b="0" sz="22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4"/>
          <p:cNvSpPr/>
          <p:nvPr/>
        </p:nvSpPr>
        <p:spPr>
          <a:xfrm>
            <a:off x="731520" y="5303520"/>
            <a:ext cx="10515240" cy="82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212529"/>
                </a:solidFill>
                <a:latin typeface="Calibri"/>
                <a:ea typeface="Calibri"/>
                <a:cs typeface="Calibri"/>
                <a:sym typeface="Calibri"/>
              </a:rPr>
              <a:t>Build a low-cost system that automatically detects potholes, records their GPS coordinates, estimates their severity, and displays them on a digital map. </a:t>
            </a:r>
            <a:endParaRPr b="0" sz="16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3" name="Google Shape;33;p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745675" y="1591875"/>
            <a:ext cx="4958275" cy="3308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/>
          <p:nvPr/>
        </p:nvSpPr>
        <p:spPr>
          <a:xfrm>
            <a:off x="457200" y="457200"/>
            <a:ext cx="11246760" cy="731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200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Primary </a:t>
            </a:r>
            <a:r>
              <a:rPr b="1" lang="en-US" sz="3200" u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Objectives of RP</a:t>
            </a:r>
            <a:r>
              <a:rPr b="1" lang="en-US" sz="3200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DS</a:t>
            </a:r>
            <a:endParaRPr b="0" sz="32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" name="Google Shape;40;p5"/>
          <p:cNvSpPr/>
          <p:nvPr/>
        </p:nvSpPr>
        <p:spPr>
          <a:xfrm>
            <a:off x="457200" y="1188720"/>
            <a:ext cx="11246760" cy="45360"/>
          </a:xfrm>
          <a:prstGeom prst="rect">
            <a:avLst/>
          </a:prstGeom>
          <a:solidFill>
            <a:srgbClr val="F96167"/>
          </a:solidFill>
          <a:ln cap="flat" cmpd="sng" w="12700">
            <a:solidFill>
              <a:srgbClr val="F9616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00" lIns="90000" spcFirstLastPara="1" rIns="90000" wrap="square" tIns="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1800" u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" name="Google Shape;41;p5"/>
          <p:cNvSpPr/>
          <p:nvPr/>
        </p:nvSpPr>
        <p:spPr>
          <a:xfrm>
            <a:off x="731520" y="1828800"/>
            <a:ext cx="10515240" cy="45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600" u="none" strike="noStrike">
                <a:solidFill>
                  <a:srgbClr val="212529"/>
                </a:solidFill>
                <a:latin typeface="Calibri"/>
                <a:ea typeface="Calibri"/>
                <a:cs typeface="Calibri"/>
                <a:sym typeface="Calibri"/>
              </a:rPr>
              <a:t>• Detect potholes using vehicle vibration data (MPU6050)</a:t>
            </a:r>
            <a:endParaRPr b="0" sz="16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5"/>
          <p:cNvSpPr/>
          <p:nvPr/>
        </p:nvSpPr>
        <p:spPr>
          <a:xfrm>
            <a:off x="731520" y="2377440"/>
            <a:ext cx="10515240" cy="45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600" u="none" strike="noStrike">
                <a:solidFill>
                  <a:srgbClr val="212529"/>
                </a:solidFill>
                <a:latin typeface="Calibri"/>
                <a:ea typeface="Calibri"/>
                <a:cs typeface="Calibri"/>
                <a:sym typeface="Calibri"/>
              </a:rPr>
              <a:t>• Capture precise location using GPS module</a:t>
            </a:r>
            <a:endParaRPr b="0" sz="16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" name="Google Shape;43;p5"/>
          <p:cNvSpPr/>
          <p:nvPr/>
        </p:nvSpPr>
        <p:spPr>
          <a:xfrm>
            <a:off x="731520" y="2926080"/>
            <a:ext cx="10515240" cy="45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600" u="none" strike="noStrike">
                <a:solidFill>
                  <a:srgbClr val="212529"/>
                </a:solidFill>
                <a:latin typeface="Calibri"/>
                <a:ea typeface="Calibri"/>
                <a:cs typeface="Calibri"/>
                <a:sym typeface="Calibri"/>
              </a:rPr>
              <a:t>• Transmit detection events to backend server via Wi-Fi/4G</a:t>
            </a:r>
            <a:endParaRPr b="0" sz="16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" name="Google Shape;44;p5"/>
          <p:cNvSpPr/>
          <p:nvPr/>
        </p:nvSpPr>
        <p:spPr>
          <a:xfrm>
            <a:off x="731520" y="3474720"/>
            <a:ext cx="10515240" cy="45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600" u="none" strike="noStrike">
                <a:solidFill>
                  <a:srgbClr val="212529"/>
                </a:solidFill>
                <a:latin typeface="Calibri"/>
                <a:ea typeface="Calibri"/>
                <a:cs typeface="Calibri"/>
                <a:sym typeface="Calibri"/>
              </a:rPr>
              <a:t>• Visualize pothole locations on interactive digital map</a:t>
            </a:r>
            <a:endParaRPr b="0" sz="16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" name="Google Shape;45;p5"/>
          <p:cNvSpPr/>
          <p:nvPr/>
        </p:nvSpPr>
        <p:spPr>
          <a:xfrm>
            <a:off x="731520" y="4023360"/>
            <a:ext cx="10515240" cy="45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600" u="none" strike="noStrike">
                <a:solidFill>
                  <a:srgbClr val="212529"/>
                </a:solidFill>
                <a:latin typeface="Calibri"/>
                <a:ea typeface="Calibri"/>
                <a:cs typeface="Calibri"/>
                <a:sym typeface="Calibri"/>
              </a:rPr>
              <a:t>• Classify potholes by severity using ML techniques</a:t>
            </a:r>
            <a:endParaRPr b="0" sz="16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" name="Google Shape;46;p5"/>
          <p:cNvSpPr/>
          <p:nvPr/>
        </p:nvSpPr>
        <p:spPr>
          <a:xfrm>
            <a:off x="731520" y="4572000"/>
            <a:ext cx="10515240" cy="45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600" u="none" strike="noStrike">
                <a:solidFill>
                  <a:srgbClr val="212529"/>
                </a:solidFill>
                <a:latin typeface="Calibri"/>
                <a:ea typeface="Calibri"/>
                <a:cs typeface="Calibri"/>
                <a:sym typeface="Calibri"/>
              </a:rPr>
              <a:t>• Reduce false detections through signal processing</a:t>
            </a:r>
            <a:endParaRPr b="0" sz="16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7" name="Google Shape;47;p5"/>
          <p:cNvPicPr preferRelativeResize="0"/>
          <p:nvPr/>
        </p:nvPicPr>
        <p:blipFill rotWithShape="1">
          <a:blip r:embed="rId3">
            <a:alphaModFix/>
          </a:blip>
          <a:srcRect b="0" l="14397" r="22432" t="0"/>
          <a:stretch/>
        </p:blipFill>
        <p:spPr>
          <a:xfrm>
            <a:off x="5820100" y="1430625"/>
            <a:ext cx="5883850" cy="50844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6"/>
          <p:cNvSpPr/>
          <p:nvPr/>
        </p:nvSpPr>
        <p:spPr>
          <a:xfrm>
            <a:off x="457200" y="457200"/>
            <a:ext cx="11246760" cy="731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200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Basic Working</a:t>
            </a:r>
            <a:r>
              <a:rPr b="1" lang="en-US" sz="3200" u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 Architecture</a:t>
            </a:r>
            <a:endParaRPr b="0" sz="32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" name="Google Shape;54;p6"/>
          <p:cNvSpPr/>
          <p:nvPr/>
        </p:nvSpPr>
        <p:spPr>
          <a:xfrm>
            <a:off x="457200" y="1188720"/>
            <a:ext cx="11246760" cy="45360"/>
          </a:xfrm>
          <a:prstGeom prst="rect">
            <a:avLst/>
          </a:prstGeom>
          <a:solidFill>
            <a:srgbClr val="F96167"/>
          </a:solidFill>
          <a:ln cap="flat" cmpd="sng" w="12700">
            <a:solidFill>
              <a:srgbClr val="F9616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00" lIns="90000" spcFirstLastPara="1" rIns="90000" wrap="square" tIns="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1800" u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" name="Google Shape;55;p6"/>
          <p:cNvSpPr/>
          <p:nvPr/>
        </p:nvSpPr>
        <p:spPr>
          <a:xfrm>
            <a:off x="731520" y="1453750"/>
            <a:ext cx="10515300" cy="45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 u="none" strike="noStrike">
                <a:solidFill>
                  <a:srgbClr val="212529"/>
                </a:solidFill>
                <a:latin typeface="Calibri"/>
                <a:ea typeface="Calibri"/>
                <a:cs typeface="Calibri"/>
                <a:sym typeface="Calibri"/>
              </a:rPr>
              <a:t>Vehicle-mounted IoT system detects</a:t>
            </a:r>
            <a:r>
              <a:rPr lang="en-US">
                <a:solidFill>
                  <a:srgbClr val="212529"/>
                </a:solidFill>
                <a:latin typeface="Calibri"/>
                <a:ea typeface="Calibri"/>
                <a:cs typeface="Calibri"/>
                <a:sym typeface="Calibri"/>
              </a:rPr>
              <a:t>/identifies the abnormal vertical acceleration caused by road potholes and associates each detected event with its GPS location, sending the </a:t>
            </a:r>
            <a:r>
              <a:rPr lang="en-US">
                <a:solidFill>
                  <a:srgbClr val="212529"/>
                </a:solidFill>
                <a:latin typeface="Calibri"/>
                <a:ea typeface="Calibri"/>
                <a:cs typeface="Calibri"/>
                <a:sym typeface="Calibri"/>
              </a:rPr>
              <a:t>event</a:t>
            </a:r>
            <a:r>
              <a:rPr lang="en-US">
                <a:solidFill>
                  <a:srgbClr val="212529"/>
                </a:solidFill>
                <a:latin typeface="Calibri"/>
                <a:ea typeface="Calibri"/>
                <a:cs typeface="Calibri"/>
                <a:sym typeface="Calibri"/>
              </a:rPr>
              <a:t> to the backend server to process and visualize in map. </a:t>
            </a:r>
            <a:endParaRPr b="0" sz="14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" name="Google Shape;56;p6"/>
          <p:cNvSpPr/>
          <p:nvPr/>
        </p:nvSpPr>
        <p:spPr>
          <a:xfrm>
            <a:off x="1371600" y="2560320"/>
            <a:ext cx="1828440" cy="639720"/>
          </a:xfrm>
          <a:prstGeom prst="roundRect">
            <a:avLst>
              <a:gd fmla="val 16667" name="adj"/>
            </a:avLst>
          </a:prstGeom>
          <a:solidFill>
            <a:srgbClr val="F8F9FA"/>
          </a:solidFill>
          <a:ln cap="flat" cmpd="sng" w="12700">
            <a:solidFill>
              <a:srgbClr val="1E276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18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" name="Google Shape;57;p6"/>
          <p:cNvSpPr/>
          <p:nvPr/>
        </p:nvSpPr>
        <p:spPr>
          <a:xfrm>
            <a:off x="1371925" y="2697475"/>
            <a:ext cx="1828500" cy="365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0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Vehicle</a:t>
            </a:r>
            <a:endParaRPr b="0" sz="13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8" name="Google Shape;58;p6"/>
          <p:cNvCxnSpPr/>
          <p:nvPr/>
        </p:nvCxnSpPr>
        <p:spPr>
          <a:xfrm>
            <a:off x="3200400" y="2880360"/>
            <a:ext cx="457200" cy="360"/>
          </a:xfrm>
          <a:prstGeom prst="straightConnector1">
            <a:avLst/>
          </a:prstGeom>
          <a:noFill/>
          <a:ln cap="flat" cmpd="sng" w="19050">
            <a:solidFill>
              <a:srgbClr val="1E2761"/>
            </a:solidFill>
            <a:prstDash val="solid"/>
            <a:round/>
            <a:headEnd len="med" w="med" type="stealth"/>
            <a:tailEnd len="sm" w="sm" type="none"/>
          </a:ln>
        </p:spPr>
      </p:cxnSp>
      <p:sp>
        <p:nvSpPr>
          <p:cNvPr id="59" name="Google Shape;59;p6"/>
          <p:cNvSpPr/>
          <p:nvPr/>
        </p:nvSpPr>
        <p:spPr>
          <a:xfrm>
            <a:off x="3657600" y="2560320"/>
            <a:ext cx="1828440" cy="639720"/>
          </a:xfrm>
          <a:prstGeom prst="roundRect">
            <a:avLst>
              <a:gd fmla="val 16667" name="adj"/>
            </a:avLst>
          </a:prstGeom>
          <a:solidFill>
            <a:srgbClr val="F8F9FA"/>
          </a:solidFill>
          <a:ln cap="flat" cmpd="sng" w="12700">
            <a:solidFill>
              <a:srgbClr val="1E276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18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" name="Google Shape;60;p6"/>
          <p:cNvSpPr/>
          <p:nvPr/>
        </p:nvSpPr>
        <p:spPr>
          <a:xfrm>
            <a:off x="3657613" y="2697475"/>
            <a:ext cx="1828500" cy="365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00">
                <a:latin typeface="Calibri"/>
                <a:ea typeface="Calibri"/>
                <a:cs typeface="Calibri"/>
                <a:sym typeface="Calibri"/>
              </a:rPr>
              <a:t>Accelerometer</a:t>
            </a:r>
            <a:endParaRPr b="0" sz="13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1" name="Google Shape;61;p6"/>
          <p:cNvCxnSpPr/>
          <p:nvPr/>
        </p:nvCxnSpPr>
        <p:spPr>
          <a:xfrm>
            <a:off x="5486400" y="2880360"/>
            <a:ext cx="457200" cy="360"/>
          </a:xfrm>
          <a:prstGeom prst="straightConnector1">
            <a:avLst/>
          </a:prstGeom>
          <a:noFill/>
          <a:ln cap="flat" cmpd="sng" w="19050">
            <a:solidFill>
              <a:srgbClr val="1E2761"/>
            </a:solidFill>
            <a:prstDash val="solid"/>
            <a:round/>
            <a:headEnd len="med" w="med" type="stealth"/>
            <a:tailEnd len="sm" w="sm" type="none"/>
          </a:ln>
        </p:spPr>
      </p:cxnSp>
      <p:sp>
        <p:nvSpPr>
          <p:cNvPr id="62" name="Google Shape;62;p6"/>
          <p:cNvSpPr/>
          <p:nvPr/>
        </p:nvSpPr>
        <p:spPr>
          <a:xfrm>
            <a:off x="5943600" y="2560320"/>
            <a:ext cx="1645560" cy="639720"/>
          </a:xfrm>
          <a:prstGeom prst="roundRect">
            <a:avLst>
              <a:gd fmla="val 16667" name="adj"/>
            </a:avLst>
          </a:prstGeom>
          <a:solidFill>
            <a:srgbClr val="F8F9FA"/>
          </a:solidFill>
          <a:ln cap="flat" cmpd="sng" w="12700">
            <a:solidFill>
              <a:srgbClr val="1E276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18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" name="Google Shape;63;p6"/>
          <p:cNvSpPr/>
          <p:nvPr/>
        </p:nvSpPr>
        <p:spPr>
          <a:xfrm>
            <a:off x="5943613" y="2697475"/>
            <a:ext cx="1645500" cy="365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0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ESP32</a:t>
            </a:r>
            <a:endParaRPr b="0" sz="13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4" name="Google Shape;64;p6"/>
          <p:cNvCxnSpPr/>
          <p:nvPr/>
        </p:nvCxnSpPr>
        <p:spPr>
          <a:xfrm>
            <a:off x="7589520" y="2880360"/>
            <a:ext cx="457200" cy="360"/>
          </a:xfrm>
          <a:prstGeom prst="straightConnector1">
            <a:avLst/>
          </a:prstGeom>
          <a:noFill/>
          <a:ln cap="flat" cmpd="sng" w="19050">
            <a:solidFill>
              <a:srgbClr val="1E2761"/>
            </a:solidFill>
            <a:prstDash val="solid"/>
            <a:round/>
            <a:headEnd len="med" w="med" type="stealth"/>
            <a:tailEnd len="sm" w="sm" type="none"/>
          </a:ln>
        </p:spPr>
      </p:cxnSp>
      <p:sp>
        <p:nvSpPr>
          <p:cNvPr id="65" name="Google Shape;65;p6"/>
          <p:cNvSpPr/>
          <p:nvPr/>
        </p:nvSpPr>
        <p:spPr>
          <a:xfrm>
            <a:off x="8046720" y="2560320"/>
            <a:ext cx="1645560" cy="639720"/>
          </a:xfrm>
          <a:prstGeom prst="roundRect">
            <a:avLst>
              <a:gd fmla="val 16667" name="adj"/>
            </a:avLst>
          </a:prstGeom>
          <a:solidFill>
            <a:srgbClr val="F8F9FA"/>
          </a:solidFill>
          <a:ln cap="flat" cmpd="sng" w="12700">
            <a:solidFill>
              <a:srgbClr val="1E276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18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" name="Google Shape;66;p6"/>
          <p:cNvSpPr/>
          <p:nvPr/>
        </p:nvSpPr>
        <p:spPr>
          <a:xfrm>
            <a:off x="8046695" y="2697475"/>
            <a:ext cx="1645500" cy="365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0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GPS</a:t>
            </a:r>
            <a:endParaRPr b="0" sz="13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7" name="Google Shape;67;p6"/>
          <p:cNvCxnSpPr/>
          <p:nvPr/>
        </p:nvCxnSpPr>
        <p:spPr>
          <a:xfrm>
            <a:off x="6766560" y="3200400"/>
            <a:ext cx="360" cy="731520"/>
          </a:xfrm>
          <a:prstGeom prst="straightConnector1">
            <a:avLst/>
          </a:prstGeom>
          <a:noFill/>
          <a:ln cap="flat" cmpd="sng" w="19050">
            <a:solidFill>
              <a:srgbClr val="1E2761"/>
            </a:solidFill>
            <a:prstDash val="solid"/>
            <a:round/>
            <a:headEnd len="med" w="med" type="stealth"/>
            <a:tailEnd len="sm" w="sm" type="none"/>
          </a:ln>
        </p:spPr>
      </p:cxnSp>
      <p:sp>
        <p:nvSpPr>
          <p:cNvPr id="68" name="Google Shape;68;p6"/>
          <p:cNvSpPr/>
          <p:nvPr/>
        </p:nvSpPr>
        <p:spPr>
          <a:xfrm>
            <a:off x="5943600" y="3931920"/>
            <a:ext cx="1828440" cy="639720"/>
          </a:xfrm>
          <a:prstGeom prst="roundRect">
            <a:avLst>
              <a:gd fmla="val 16667" name="adj"/>
            </a:avLst>
          </a:prstGeom>
          <a:solidFill>
            <a:srgbClr val="F8F9FA"/>
          </a:solidFill>
          <a:ln cap="flat" cmpd="sng" w="12700">
            <a:solidFill>
              <a:srgbClr val="1E276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18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" name="Google Shape;69;p6"/>
          <p:cNvSpPr/>
          <p:nvPr/>
        </p:nvSpPr>
        <p:spPr>
          <a:xfrm>
            <a:off x="5943600" y="4069263"/>
            <a:ext cx="1828500" cy="365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0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Wi-Fi/4G/BLUETOOTH</a:t>
            </a:r>
            <a:endParaRPr b="0" sz="13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70" name="Google Shape;70;p6"/>
          <p:cNvCxnSpPr/>
          <p:nvPr/>
        </p:nvCxnSpPr>
        <p:spPr>
          <a:xfrm>
            <a:off x="6766560" y="4572000"/>
            <a:ext cx="360" cy="731520"/>
          </a:xfrm>
          <a:prstGeom prst="straightConnector1">
            <a:avLst/>
          </a:prstGeom>
          <a:noFill/>
          <a:ln cap="flat" cmpd="sng" w="19050">
            <a:solidFill>
              <a:srgbClr val="1E2761"/>
            </a:solidFill>
            <a:prstDash val="solid"/>
            <a:round/>
            <a:headEnd len="med" w="med" type="stealth"/>
            <a:tailEnd len="sm" w="sm" type="none"/>
          </a:ln>
        </p:spPr>
      </p:cxnSp>
      <p:sp>
        <p:nvSpPr>
          <p:cNvPr id="71" name="Google Shape;71;p6"/>
          <p:cNvSpPr/>
          <p:nvPr/>
        </p:nvSpPr>
        <p:spPr>
          <a:xfrm>
            <a:off x="5760720" y="5303520"/>
            <a:ext cx="2011320" cy="639720"/>
          </a:xfrm>
          <a:prstGeom prst="roundRect">
            <a:avLst>
              <a:gd fmla="val 16667" name="adj"/>
            </a:avLst>
          </a:prstGeom>
          <a:solidFill>
            <a:srgbClr val="F8F9FA"/>
          </a:solidFill>
          <a:ln cap="flat" cmpd="sng" w="12700">
            <a:solidFill>
              <a:srgbClr val="1E276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18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" name="Google Shape;72;p6"/>
          <p:cNvSpPr/>
          <p:nvPr/>
        </p:nvSpPr>
        <p:spPr>
          <a:xfrm>
            <a:off x="5760720" y="5440850"/>
            <a:ext cx="2011200" cy="365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latin typeface="Calibri"/>
                <a:ea typeface="Calibri"/>
                <a:cs typeface="Calibri"/>
                <a:sym typeface="Calibri"/>
              </a:rPr>
              <a:t>Backend</a:t>
            </a:r>
            <a:r>
              <a:rPr b="1" lang="en-US" sz="120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Server</a:t>
            </a:r>
            <a:endParaRPr b="0" sz="12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73" name="Google Shape;73;p6"/>
          <p:cNvCxnSpPr/>
          <p:nvPr/>
        </p:nvCxnSpPr>
        <p:spPr>
          <a:xfrm>
            <a:off x="4846320" y="5623560"/>
            <a:ext cx="914400" cy="360"/>
          </a:xfrm>
          <a:prstGeom prst="straightConnector1">
            <a:avLst/>
          </a:prstGeom>
          <a:noFill/>
          <a:ln cap="flat" cmpd="sng" w="19050">
            <a:solidFill>
              <a:srgbClr val="1E2761"/>
            </a:solidFill>
            <a:prstDash val="solid"/>
            <a:round/>
            <a:headEnd len="med" w="med" type="stealth"/>
            <a:tailEnd len="sm" w="sm" type="none"/>
          </a:ln>
        </p:spPr>
      </p:cxnSp>
      <p:sp>
        <p:nvSpPr>
          <p:cNvPr id="74" name="Google Shape;74;p6"/>
          <p:cNvSpPr/>
          <p:nvPr/>
        </p:nvSpPr>
        <p:spPr>
          <a:xfrm>
            <a:off x="3200400" y="5303520"/>
            <a:ext cx="1645560" cy="639720"/>
          </a:xfrm>
          <a:prstGeom prst="roundRect">
            <a:avLst>
              <a:gd fmla="val 16667" name="adj"/>
            </a:avLst>
          </a:prstGeom>
          <a:solidFill>
            <a:srgbClr val="F8F9FA"/>
          </a:solidFill>
          <a:ln cap="flat" cmpd="sng" w="12700">
            <a:solidFill>
              <a:srgbClr val="1E276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18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" name="Google Shape;75;p6"/>
          <p:cNvSpPr/>
          <p:nvPr/>
        </p:nvSpPr>
        <p:spPr>
          <a:xfrm>
            <a:off x="3200425" y="5440688"/>
            <a:ext cx="1645500" cy="365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Database</a:t>
            </a:r>
            <a:endParaRPr b="0" sz="12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76" name="Google Shape;76;p6"/>
          <p:cNvCxnSpPr/>
          <p:nvPr/>
        </p:nvCxnSpPr>
        <p:spPr>
          <a:xfrm>
            <a:off x="7772400" y="5623560"/>
            <a:ext cx="914400" cy="360"/>
          </a:xfrm>
          <a:prstGeom prst="straightConnector1">
            <a:avLst/>
          </a:prstGeom>
          <a:noFill/>
          <a:ln cap="flat" cmpd="sng" w="19050">
            <a:solidFill>
              <a:srgbClr val="1E2761"/>
            </a:solidFill>
            <a:prstDash val="solid"/>
            <a:round/>
            <a:headEnd len="med" w="med" type="stealth"/>
            <a:tailEnd len="sm" w="sm" type="none"/>
          </a:ln>
        </p:spPr>
      </p:cxnSp>
      <p:sp>
        <p:nvSpPr>
          <p:cNvPr id="77" name="Google Shape;77;p6"/>
          <p:cNvSpPr/>
          <p:nvPr/>
        </p:nvSpPr>
        <p:spPr>
          <a:xfrm>
            <a:off x="8686800" y="5303520"/>
            <a:ext cx="1828440" cy="639720"/>
          </a:xfrm>
          <a:prstGeom prst="roundRect">
            <a:avLst>
              <a:gd fmla="val 16667" name="adj"/>
            </a:avLst>
          </a:prstGeom>
          <a:solidFill>
            <a:srgbClr val="F8F9FA"/>
          </a:solidFill>
          <a:ln cap="flat" cmpd="sng" w="12700">
            <a:solidFill>
              <a:srgbClr val="1E276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18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p6"/>
          <p:cNvSpPr/>
          <p:nvPr/>
        </p:nvSpPr>
        <p:spPr>
          <a:xfrm>
            <a:off x="8686825" y="5440688"/>
            <a:ext cx="1828500" cy="365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Dashboard</a:t>
            </a:r>
            <a:endParaRPr b="0" sz="12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7"/>
          <p:cNvSpPr/>
          <p:nvPr/>
        </p:nvSpPr>
        <p:spPr>
          <a:xfrm>
            <a:off x="457200" y="457200"/>
            <a:ext cx="11246760" cy="731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200" u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Hardware </a:t>
            </a:r>
            <a:r>
              <a:rPr b="1" lang="en-US" sz="3200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Used</a:t>
            </a:r>
            <a:endParaRPr b="0" sz="32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" name="Google Shape;85;p7"/>
          <p:cNvSpPr/>
          <p:nvPr/>
        </p:nvSpPr>
        <p:spPr>
          <a:xfrm>
            <a:off x="457200" y="1188720"/>
            <a:ext cx="11246760" cy="45360"/>
          </a:xfrm>
          <a:prstGeom prst="rect">
            <a:avLst/>
          </a:prstGeom>
          <a:solidFill>
            <a:srgbClr val="F96167"/>
          </a:solidFill>
          <a:ln cap="flat" cmpd="sng" w="12700">
            <a:solidFill>
              <a:srgbClr val="F9616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00" lIns="90000" spcFirstLastPara="1" rIns="90000" wrap="square" tIns="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1800" u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86" name="Google Shape;86;p7"/>
          <p:cNvGraphicFramePr/>
          <p:nvPr/>
        </p:nvGraphicFramePr>
        <p:xfrm>
          <a:off x="731520" y="18288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{DE99E8F4-FE3A-4AA6-998A-0E89F5064642}</a:tableStyleId>
              </a:tblPr>
              <a:tblGrid>
                <a:gridCol w="2743200"/>
                <a:gridCol w="7772400"/>
              </a:tblGrid>
              <a:tr h="5223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 u="none" cap="none" strike="noStrike">
                          <a:solidFill>
                            <a:srgbClr val="21252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Component</a:t>
                      </a:r>
                      <a:endParaRPr b="0" sz="18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>
                    <a:lnL cap="flat" cmpd="sng" w="12225">
                      <a:solidFill>
                        <a:srgbClr val="1E276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225">
                      <a:solidFill>
                        <a:srgbClr val="1E276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225">
                      <a:solidFill>
                        <a:srgbClr val="1E276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225">
                      <a:solidFill>
                        <a:srgbClr val="1E276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 u="none" cap="none" strike="noStrike">
                          <a:solidFill>
                            <a:srgbClr val="21252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Purpose</a:t>
                      </a:r>
                      <a:endParaRPr b="0" sz="18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>
                    <a:lnL cap="flat" cmpd="sng" w="12225">
                      <a:solidFill>
                        <a:srgbClr val="1E276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225">
                      <a:solidFill>
                        <a:srgbClr val="1E276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225">
                      <a:solidFill>
                        <a:srgbClr val="1E276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225">
                      <a:solidFill>
                        <a:srgbClr val="1E276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5223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400" u="none" cap="none" strike="noStrike">
                          <a:solidFill>
                            <a:srgbClr val="21252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ESP32</a:t>
                      </a:r>
                      <a:endParaRPr b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>
                    <a:lnL cap="flat" cmpd="sng" w="12225">
                      <a:solidFill>
                        <a:srgbClr val="1E276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225">
                      <a:solidFill>
                        <a:srgbClr val="1E276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225">
                      <a:solidFill>
                        <a:srgbClr val="1E276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225">
                      <a:solidFill>
                        <a:srgbClr val="1E276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400" u="none" cap="none" strike="noStrike">
                          <a:solidFill>
                            <a:srgbClr val="21252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Main Microcontroller &amp; Wi-Fi</a:t>
                      </a:r>
                      <a:endParaRPr b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>
                    <a:lnL cap="flat" cmpd="sng" w="12225">
                      <a:solidFill>
                        <a:srgbClr val="1E276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225">
                      <a:solidFill>
                        <a:srgbClr val="1E276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225">
                      <a:solidFill>
                        <a:srgbClr val="1E276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225">
                      <a:solidFill>
                        <a:srgbClr val="1E276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5223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400" u="none" cap="none" strike="noStrike">
                          <a:solidFill>
                            <a:srgbClr val="21252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MPU6050</a:t>
                      </a:r>
                      <a:endParaRPr b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>
                    <a:lnL cap="flat" cmpd="sng" w="12225">
                      <a:solidFill>
                        <a:srgbClr val="1E276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225">
                      <a:solidFill>
                        <a:srgbClr val="1E276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225">
                      <a:solidFill>
                        <a:srgbClr val="1E276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225">
                      <a:solidFill>
                        <a:srgbClr val="1E276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400" u="none" cap="none" strike="noStrike">
                          <a:solidFill>
                            <a:srgbClr val="21252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3-Axis Accelerometer</a:t>
                      </a:r>
                      <a:endParaRPr b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>
                    <a:lnL cap="flat" cmpd="sng" w="12225">
                      <a:solidFill>
                        <a:srgbClr val="1E276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225">
                      <a:solidFill>
                        <a:srgbClr val="1E276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225">
                      <a:solidFill>
                        <a:srgbClr val="1E276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225">
                      <a:solidFill>
                        <a:srgbClr val="1E276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5223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400" u="none" cap="none" strike="noStrike">
                          <a:solidFill>
                            <a:srgbClr val="21252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NEO-6M GPS</a:t>
                      </a:r>
                      <a:endParaRPr b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>
                    <a:lnL cap="flat" cmpd="sng" w="12225">
                      <a:solidFill>
                        <a:srgbClr val="1E276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225">
                      <a:solidFill>
                        <a:srgbClr val="1E276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225">
                      <a:solidFill>
                        <a:srgbClr val="1E276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225">
                      <a:solidFill>
                        <a:srgbClr val="1E276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400" u="none" cap="none" strike="noStrike">
                          <a:solidFill>
                            <a:srgbClr val="21252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Location Tracking</a:t>
                      </a:r>
                      <a:endParaRPr b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>
                    <a:lnL cap="flat" cmpd="sng" w="12225">
                      <a:solidFill>
                        <a:srgbClr val="1E276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225">
                      <a:solidFill>
                        <a:srgbClr val="1E276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225">
                      <a:solidFill>
                        <a:srgbClr val="1E276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225">
                      <a:solidFill>
                        <a:srgbClr val="1E276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5223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400" u="none" cap="none" strike="noStrike">
                          <a:solidFill>
                            <a:srgbClr val="21252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OLED Display</a:t>
                      </a:r>
                      <a:endParaRPr b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>
                    <a:lnL cap="flat" cmpd="sng" w="12225">
                      <a:solidFill>
                        <a:srgbClr val="1E276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225">
                      <a:solidFill>
                        <a:srgbClr val="1E276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225">
                      <a:solidFill>
                        <a:srgbClr val="1E276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225">
                      <a:solidFill>
                        <a:srgbClr val="1E276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400" u="none" cap="none" strike="noStrike">
                          <a:solidFill>
                            <a:srgbClr val="21252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Status Display</a:t>
                      </a:r>
                      <a:endParaRPr b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>
                    <a:lnL cap="flat" cmpd="sng" w="12225">
                      <a:solidFill>
                        <a:srgbClr val="1E276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225">
                      <a:solidFill>
                        <a:srgbClr val="1E276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225">
                      <a:solidFill>
                        <a:srgbClr val="1E276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225">
                      <a:solidFill>
                        <a:srgbClr val="1E276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5223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400" u="none" cap="none" strike="noStrike">
                          <a:solidFill>
                            <a:srgbClr val="21252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Buzzer</a:t>
                      </a:r>
                      <a:endParaRPr b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>
                    <a:lnL cap="flat" cmpd="sng" w="12225">
                      <a:solidFill>
                        <a:srgbClr val="1E276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225">
                      <a:solidFill>
                        <a:srgbClr val="1E276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225">
                      <a:solidFill>
                        <a:srgbClr val="1E276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225">
                      <a:solidFill>
                        <a:srgbClr val="1E276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400" u="none" cap="none" strike="noStrike">
                          <a:solidFill>
                            <a:srgbClr val="21252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Local Alert</a:t>
                      </a:r>
                      <a:endParaRPr b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>
                    <a:lnL cap="flat" cmpd="sng" w="12225">
                      <a:solidFill>
                        <a:srgbClr val="1E276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225">
                      <a:solidFill>
                        <a:srgbClr val="1E276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225">
                      <a:solidFill>
                        <a:srgbClr val="1E276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225">
                      <a:solidFill>
                        <a:srgbClr val="1E276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5223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400" u="none" cap="none" strike="noStrike">
                          <a:solidFill>
                            <a:srgbClr val="21252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Power Bank / Battery</a:t>
                      </a:r>
                      <a:endParaRPr b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>
                    <a:lnL cap="flat" cmpd="sng" w="12225">
                      <a:solidFill>
                        <a:srgbClr val="1E276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225">
                      <a:solidFill>
                        <a:srgbClr val="1E276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225">
                      <a:solidFill>
                        <a:srgbClr val="1E276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225">
                      <a:solidFill>
                        <a:srgbClr val="1E276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400" u="none" cap="none" strike="noStrike">
                          <a:solidFill>
                            <a:srgbClr val="21252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Portable Power Supply</a:t>
                      </a:r>
                      <a:endParaRPr b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>
                    <a:lnL cap="flat" cmpd="sng" w="12225">
                      <a:solidFill>
                        <a:srgbClr val="1E276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225">
                      <a:solidFill>
                        <a:srgbClr val="1E276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225">
                      <a:solidFill>
                        <a:srgbClr val="1E276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225">
                      <a:solidFill>
                        <a:srgbClr val="1E276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8"/>
          <p:cNvSpPr/>
          <p:nvPr/>
        </p:nvSpPr>
        <p:spPr>
          <a:xfrm>
            <a:off x="457200" y="457200"/>
            <a:ext cx="11246760" cy="731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200" u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Working Principle</a:t>
            </a:r>
            <a:endParaRPr b="0" sz="32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" name="Google Shape;93;p8"/>
          <p:cNvSpPr/>
          <p:nvPr/>
        </p:nvSpPr>
        <p:spPr>
          <a:xfrm>
            <a:off x="457200" y="1188720"/>
            <a:ext cx="11246760" cy="45360"/>
          </a:xfrm>
          <a:prstGeom prst="rect">
            <a:avLst/>
          </a:prstGeom>
          <a:solidFill>
            <a:srgbClr val="F96167"/>
          </a:solidFill>
          <a:ln cap="flat" cmpd="sng" w="12700">
            <a:solidFill>
              <a:srgbClr val="F9616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00" lIns="90000" spcFirstLastPara="1" rIns="90000" wrap="square" tIns="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1800" u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8"/>
          <p:cNvSpPr/>
          <p:nvPr/>
        </p:nvSpPr>
        <p:spPr>
          <a:xfrm>
            <a:off x="731525" y="1463025"/>
            <a:ext cx="10515300" cy="804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212529"/>
                </a:solidFill>
                <a:latin typeface="Calibri"/>
                <a:ea typeface="Calibri"/>
                <a:cs typeface="Calibri"/>
                <a:sym typeface="Calibri"/>
              </a:rPr>
              <a:t>The accelerometer (</a:t>
            </a:r>
            <a:r>
              <a:rPr lang="en-US">
                <a:solidFill>
                  <a:srgbClr val="212529"/>
                </a:solidFill>
                <a:latin typeface="Calibri"/>
                <a:ea typeface="Calibri"/>
                <a:cs typeface="Calibri"/>
                <a:sym typeface="Calibri"/>
              </a:rPr>
              <a:t>MPU6050</a:t>
            </a:r>
            <a:r>
              <a:rPr lang="en-US" sz="1500">
                <a:solidFill>
                  <a:srgbClr val="212529"/>
                </a:solidFill>
                <a:latin typeface="Calibri"/>
                <a:ea typeface="Calibri"/>
                <a:cs typeface="Calibri"/>
                <a:sym typeface="Calibri"/>
              </a:rPr>
              <a:t>) d</a:t>
            </a:r>
            <a:r>
              <a:rPr b="0" lang="en-US" sz="1500" u="none" strike="noStrike">
                <a:solidFill>
                  <a:srgbClr val="212529"/>
                </a:solidFill>
                <a:latin typeface="Calibri"/>
                <a:ea typeface="Calibri"/>
                <a:cs typeface="Calibri"/>
                <a:sym typeface="Calibri"/>
              </a:rPr>
              <a:t>etects sudden changes in vertical acceleration (Z-axis) when there </a:t>
            </a:r>
            <a:r>
              <a:rPr lang="en-US" sz="1500">
                <a:solidFill>
                  <a:srgbClr val="212529"/>
                </a:solidFill>
                <a:latin typeface="Calibri"/>
                <a:ea typeface="Calibri"/>
                <a:cs typeface="Calibri"/>
                <a:sym typeface="Calibri"/>
              </a:rPr>
              <a:t>is a pothole on the road. These changes are further processed in the backend for a clear identification of the pothole.</a:t>
            </a:r>
            <a:endParaRPr b="0" sz="15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" name="Google Shape;95;p8"/>
          <p:cNvSpPr/>
          <p:nvPr/>
        </p:nvSpPr>
        <p:spPr>
          <a:xfrm>
            <a:off x="731523" y="2560325"/>
            <a:ext cx="2226000" cy="45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 u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Detection Axes:</a:t>
            </a:r>
            <a:endParaRPr b="0" sz="16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8"/>
          <p:cNvSpPr/>
          <p:nvPr/>
        </p:nvSpPr>
        <p:spPr>
          <a:xfrm>
            <a:off x="914400" y="3017520"/>
            <a:ext cx="3657240" cy="365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 u="none" strike="noStrike">
                <a:solidFill>
                  <a:srgbClr val="212529"/>
                </a:solidFill>
                <a:latin typeface="Calibri"/>
                <a:ea typeface="Calibri"/>
                <a:cs typeface="Calibri"/>
                <a:sym typeface="Calibri"/>
              </a:rPr>
              <a:t>• X-axis: Longitudinal</a:t>
            </a:r>
            <a:endParaRPr b="0" sz="14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8"/>
          <p:cNvSpPr/>
          <p:nvPr/>
        </p:nvSpPr>
        <p:spPr>
          <a:xfrm>
            <a:off x="914400" y="3383280"/>
            <a:ext cx="3657240" cy="365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 u="none" strike="noStrike">
                <a:solidFill>
                  <a:srgbClr val="212529"/>
                </a:solidFill>
                <a:latin typeface="Calibri"/>
                <a:ea typeface="Calibri"/>
                <a:cs typeface="Calibri"/>
                <a:sym typeface="Calibri"/>
              </a:rPr>
              <a:t>• Y-axis: Lateral</a:t>
            </a:r>
            <a:endParaRPr b="0" sz="14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p8"/>
          <p:cNvSpPr/>
          <p:nvPr/>
        </p:nvSpPr>
        <p:spPr>
          <a:xfrm>
            <a:off x="914400" y="3749040"/>
            <a:ext cx="3657240" cy="365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 u="none" strike="noStrike">
                <a:solidFill>
                  <a:srgbClr val="212529"/>
                </a:solidFill>
                <a:latin typeface="Calibri"/>
                <a:ea typeface="Calibri"/>
                <a:cs typeface="Calibri"/>
                <a:sym typeface="Calibri"/>
              </a:rPr>
              <a:t>• Z-axis: Vertical (Critical)</a:t>
            </a:r>
            <a:endParaRPr b="0" sz="14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99" name="Google Shape;99;p8"/>
          <p:cNvCxnSpPr/>
          <p:nvPr/>
        </p:nvCxnSpPr>
        <p:spPr>
          <a:xfrm>
            <a:off x="3375400" y="3703318"/>
            <a:ext cx="5029200" cy="300"/>
          </a:xfrm>
          <a:prstGeom prst="straightConnector1">
            <a:avLst/>
          </a:prstGeom>
          <a:noFill/>
          <a:ln cap="flat" cmpd="sng" w="38100">
            <a:solidFill>
              <a:srgbClr val="1E276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0" name="Google Shape;100;p8"/>
          <p:cNvSpPr/>
          <p:nvPr/>
        </p:nvSpPr>
        <p:spPr>
          <a:xfrm>
            <a:off x="5535150" y="3737188"/>
            <a:ext cx="1121700" cy="365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F96167"/>
                </a:solidFill>
                <a:latin typeface="Calibri"/>
                <a:ea typeface="Calibri"/>
                <a:cs typeface="Calibri"/>
                <a:sym typeface="Calibri"/>
              </a:rPr>
              <a:t>No </a:t>
            </a:r>
            <a:r>
              <a:rPr b="1" lang="en-US" sz="1200" u="none" strike="noStrike">
                <a:solidFill>
                  <a:srgbClr val="F96167"/>
                </a:solidFill>
                <a:latin typeface="Calibri"/>
                <a:ea typeface="Calibri"/>
                <a:cs typeface="Calibri"/>
                <a:sym typeface="Calibri"/>
              </a:rPr>
              <a:t>Pothole Spike</a:t>
            </a:r>
            <a:endParaRPr b="0" sz="12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" name="Google Shape;101;p8"/>
          <p:cNvSpPr/>
          <p:nvPr/>
        </p:nvSpPr>
        <p:spPr>
          <a:xfrm>
            <a:off x="731520" y="4480580"/>
            <a:ext cx="4571700" cy="45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 u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False Positive Sources:</a:t>
            </a:r>
            <a:endParaRPr b="0" sz="16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" name="Google Shape;102;p8"/>
          <p:cNvSpPr/>
          <p:nvPr/>
        </p:nvSpPr>
        <p:spPr>
          <a:xfrm>
            <a:off x="914400" y="4937780"/>
            <a:ext cx="3657300" cy="365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300" u="none" strike="noStrike">
                <a:solidFill>
                  <a:srgbClr val="212529"/>
                </a:solidFill>
                <a:latin typeface="Calibri"/>
                <a:ea typeface="Calibri"/>
                <a:cs typeface="Calibri"/>
                <a:sym typeface="Calibri"/>
              </a:rPr>
              <a:t>• Speed breakers</a:t>
            </a:r>
            <a:endParaRPr b="0" sz="13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" name="Google Shape;103;p8"/>
          <p:cNvSpPr/>
          <p:nvPr/>
        </p:nvSpPr>
        <p:spPr>
          <a:xfrm>
            <a:off x="914400" y="5303540"/>
            <a:ext cx="3657300" cy="365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300" u="none" strike="noStrike">
                <a:solidFill>
                  <a:srgbClr val="212529"/>
                </a:solidFill>
                <a:latin typeface="Calibri"/>
                <a:ea typeface="Calibri"/>
                <a:cs typeface="Calibri"/>
                <a:sym typeface="Calibri"/>
              </a:rPr>
              <a:t>• Braking/Acceleration</a:t>
            </a:r>
            <a:endParaRPr b="0" sz="13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" name="Google Shape;104;p8"/>
          <p:cNvSpPr/>
          <p:nvPr/>
        </p:nvSpPr>
        <p:spPr>
          <a:xfrm>
            <a:off x="914400" y="5669300"/>
            <a:ext cx="3657300" cy="365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300" u="none" strike="noStrike">
                <a:solidFill>
                  <a:srgbClr val="212529"/>
                </a:solidFill>
                <a:latin typeface="Calibri"/>
                <a:ea typeface="Calibri"/>
                <a:cs typeface="Calibri"/>
                <a:sym typeface="Calibri"/>
              </a:rPr>
              <a:t>• Rough roads</a:t>
            </a:r>
            <a:endParaRPr b="0" sz="13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" name="Google Shape;105;p8"/>
          <p:cNvSpPr/>
          <p:nvPr/>
        </p:nvSpPr>
        <p:spPr>
          <a:xfrm>
            <a:off x="914400" y="6035060"/>
            <a:ext cx="3657300" cy="365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300" u="none" strike="noStrike">
                <a:solidFill>
                  <a:srgbClr val="212529"/>
                </a:solidFill>
                <a:latin typeface="Calibri"/>
                <a:ea typeface="Calibri"/>
                <a:cs typeface="Calibri"/>
                <a:sym typeface="Calibri"/>
              </a:rPr>
              <a:t>• Sharp turns</a:t>
            </a:r>
            <a:endParaRPr b="0" sz="13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6" name="Google Shape;106;p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891125" y="2145411"/>
            <a:ext cx="2812826" cy="2109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7" name="Google Shape;107;p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891126" y="4480583"/>
            <a:ext cx="2812826" cy="1876692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8" name="Google Shape;108;p8"/>
          <p:cNvCxnSpPr/>
          <p:nvPr/>
        </p:nvCxnSpPr>
        <p:spPr>
          <a:xfrm>
            <a:off x="3452200" y="3258163"/>
            <a:ext cx="4875600" cy="213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109" name="Google Shape;109;p8"/>
          <p:cNvCxnSpPr/>
          <p:nvPr/>
        </p:nvCxnSpPr>
        <p:spPr>
          <a:xfrm>
            <a:off x="3474575" y="5480418"/>
            <a:ext cx="5029200" cy="300"/>
          </a:xfrm>
          <a:prstGeom prst="straightConnector1">
            <a:avLst/>
          </a:prstGeom>
          <a:noFill/>
          <a:ln cap="flat" cmpd="sng" w="38100">
            <a:solidFill>
              <a:srgbClr val="1E276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0" name="Google Shape;110;p8"/>
          <p:cNvSpPr/>
          <p:nvPr/>
        </p:nvSpPr>
        <p:spPr>
          <a:xfrm>
            <a:off x="5760575" y="5571858"/>
            <a:ext cx="2285700" cy="365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 u="none" strike="noStrike">
                <a:solidFill>
                  <a:srgbClr val="F96167"/>
                </a:solidFill>
                <a:latin typeface="Calibri"/>
                <a:ea typeface="Calibri"/>
                <a:cs typeface="Calibri"/>
                <a:sym typeface="Calibri"/>
              </a:rPr>
              <a:t>Pothole Spike</a:t>
            </a:r>
            <a:endParaRPr b="0" sz="12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" name="Google Shape;111;p8"/>
          <p:cNvSpPr/>
          <p:nvPr/>
        </p:nvSpPr>
        <p:spPr>
          <a:xfrm>
            <a:off x="3404429" y="4977073"/>
            <a:ext cx="4971150" cy="314775"/>
          </a:xfrm>
          <a:custGeom>
            <a:rect b="b" l="l" r="r" t="t"/>
            <a:pathLst>
              <a:path extrusionOk="0" h="12591" w="198846">
                <a:moveTo>
                  <a:pt x="198847" y="3090"/>
                </a:moveTo>
                <a:cubicBezTo>
                  <a:pt x="182559" y="4662"/>
                  <a:pt x="132696" y="12806"/>
                  <a:pt x="101120" y="12520"/>
                </a:cubicBezTo>
                <a:cubicBezTo>
                  <a:pt x="69545" y="12234"/>
                  <a:pt x="25682" y="3447"/>
                  <a:pt x="9394" y="1375"/>
                </a:cubicBezTo>
                <a:cubicBezTo>
                  <a:pt x="-6894" y="-697"/>
                  <a:pt x="4394" y="304"/>
                  <a:pt x="3394" y="90"/>
                </a:cubicBezTo>
              </a:path>
            </a:pathLst>
          </a:custGeom>
          <a:noFill/>
          <a:ln cap="flat" cmpd="sng" w="9525">
            <a:solidFill>
              <a:schemeClr val="dk2"/>
            </a:solidFill>
            <a:prstDash val="dash"/>
            <a:round/>
            <a:headEnd len="med" w="med" type="none"/>
            <a:tailEnd len="med" w="med" type="none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9"/>
          <p:cNvSpPr/>
          <p:nvPr/>
        </p:nvSpPr>
        <p:spPr>
          <a:xfrm>
            <a:off x="457200" y="457200"/>
            <a:ext cx="11246760" cy="731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200" u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Data &amp; ML Approach in RPDS</a:t>
            </a:r>
            <a:endParaRPr b="0" sz="32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" name="Google Shape;118;p9"/>
          <p:cNvSpPr/>
          <p:nvPr/>
        </p:nvSpPr>
        <p:spPr>
          <a:xfrm>
            <a:off x="457200" y="1188720"/>
            <a:ext cx="11246760" cy="45360"/>
          </a:xfrm>
          <a:prstGeom prst="rect">
            <a:avLst/>
          </a:prstGeom>
          <a:solidFill>
            <a:srgbClr val="F96167"/>
          </a:solidFill>
          <a:ln cap="flat" cmpd="sng" w="12700">
            <a:solidFill>
              <a:srgbClr val="F9616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00" lIns="90000" spcFirstLastPara="1" rIns="90000" wrap="square" tIns="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1800" u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9"/>
          <p:cNvSpPr/>
          <p:nvPr/>
        </p:nvSpPr>
        <p:spPr>
          <a:xfrm>
            <a:off x="548595" y="1463750"/>
            <a:ext cx="5028900" cy="45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 u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Dataset Format</a:t>
            </a:r>
            <a:endParaRPr b="0" sz="18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" name="Google Shape;120;p9"/>
          <p:cNvSpPr/>
          <p:nvPr/>
        </p:nvSpPr>
        <p:spPr>
          <a:xfrm>
            <a:off x="548595" y="1920950"/>
            <a:ext cx="5028900" cy="45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100" u="none" strike="noStrike">
                <a:solidFill>
                  <a:srgbClr val="212529"/>
                </a:solidFill>
                <a:latin typeface="Courier New"/>
                <a:ea typeface="Courier New"/>
                <a:cs typeface="Courier New"/>
                <a:sym typeface="Courier New"/>
              </a:rPr>
              <a:t>timestamp, ax, ay, az, speed, lat, lon, label</a:t>
            </a:r>
            <a:endParaRPr b="0" sz="11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" name="Google Shape;121;p9"/>
          <p:cNvSpPr/>
          <p:nvPr/>
        </p:nvSpPr>
        <p:spPr>
          <a:xfrm>
            <a:off x="548595" y="2561030"/>
            <a:ext cx="5028900" cy="365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 u="none" strike="noStrike">
                <a:solidFill>
                  <a:srgbClr val="212529"/>
                </a:solidFill>
                <a:latin typeface="Calibri"/>
                <a:ea typeface="Calibri"/>
                <a:cs typeface="Calibri"/>
                <a:sym typeface="Calibri"/>
              </a:rPr>
              <a:t>• NORMAL</a:t>
            </a:r>
            <a:endParaRPr b="0" sz="14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" name="Google Shape;122;p9"/>
          <p:cNvSpPr/>
          <p:nvPr/>
        </p:nvSpPr>
        <p:spPr>
          <a:xfrm>
            <a:off x="548595" y="2926790"/>
            <a:ext cx="5028900" cy="365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 u="none" strike="noStrike">
                <a:solidFill>
                  <a:srgbClr val="212529"/>
                </a:solidFill>
                <a:latin typeface="Calibri"/>
                <a:ea typeface="Calibri"/>
                <a:cs typeface="Calibri"/>
                <a:sym typeface="Calibri"/>
              </a:rPr>
              <a:t>• POTHOLE</a:t>
            </a:r>
            <a:endParaRPr b="0" sz="14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3" name="Google Shape;123;p9"/>
          <p:cNvSpPr/>
          <p:nvPr/>
        </p:nvSpPr>
        <p:spPr>
          <a:xfrm>
            <a:off x="548595" y="3292550"/>
            <a:ext cx="5028900" cy="365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 u="none" strike="noStrike">
                <a:solidFill>
                  <a:srgbClr val="212529"/>
                </a:solidFill>
                <a:latin typeface="Calibri"/>
                <a:ea typeface="Calibri"/>
                <a:cs typeface="Calibri"/>
                <a:sym typeface="Calibri"/>
              </a:rPr>
              <a:t>• SPEED BREAKER</a:t>
            </a:r>
            <a:endParaRPr b="0" sz="14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9"/>
          <p:cNvSpPr/>
          <p:nvPr/>
        </p:nvSpPr>
        <p:spPr>
          <a:xfrm>
            <a:off x="548595" y="3658310"/>
            <a:ext cx="5028900" cy="365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 u="none" strike="noStrike">
                <a:solidFill>
                  <a:srgbClr val="212529"/>
                </a:solidFill>
                <a:latin typeface="Calibri"/>
                <a:ea typeface="Calibri"/>
                <a:cs typeface="Calibri"/>
                <a:sym typeface="Calibri"/>
              </a:rPr>
              <a:t>• ROUGH ROAD</a:t>
            </a:r>
            <a:endParaRPr b="0" sz="14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" name="Google Shape;125;p9"/>
          <p:cNvSpPr/>
          <p:nvPr/>
        </p:nvSpPr>
        <p:spPr>
          <a:xfrm>
            <a:off x="457188" y="4132650"/>
            <a:ext cx="5028900" cy="45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 u="none" strike="noStrike">
                <a:solidFill>
                  <a:srgbClr val="F96167"/>
                </a:solidFill>
                <a:latin typeface="Calibri"/>
                <a:ea typeface="Calibri"/>
                <a:cs typeface="Calibri"/>
                <a:sym typeface="Calibri"/>
              </a:rPr>
              <a:t>ML Model: Random Forest</a:t>
            </a:r>
            <a:endParaRPr b="0" sz="18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p9"/>
          <p:cNvSpPr/>
          <p:nvPr/>
        </p:nvSpPr>
        <p:spPr>
          <a:xfrm>
            <a:off x="640067" y="4681290"/>
            <a:ext cx="5028900" cy="45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 u="none" strike="noStrike">
                <a:solidFill>
                  <a:srgbClr val="212529"/>
                </a:solidFill>
                <a:latin typeface="Calibri"/>
                <a:ea typeface="Calibri"/>
                <a:cs typeface="Calibri"/>
                <a:sym typeface="Calibri"/>
              </a:rPr>
              <a:t>• Small dataset friendly</a:t>
            </a:r>
            <a:endParaRPr b="0" sz="14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" name="Google Shape;127;p9"/>
          <p:cNvSpPr/>
          <p:nvPr/>
        </p:nvSpPr>
        <p:spPr>
          <a:xfrm>
            <a:off x="640067" y="5138490"/>
            <a:ext cx="5028900" cy="45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 u="none" strike="noStrike">
                <a:solidFill>
                  <a:srgbClr val="212529"/>
                </a:solidFill>
                <a:latin typeface="Calibri"/>
                <a:ea typeface="Calibri"/>
                <a:cs typeface="Calibri"/>
                <a:sym typeface="Calibri"/>
              </a:rPr>
              <a:t>• Fast &amp; interpretable</a:t>
            </a:r>
            <a:endParaRPr b="0" sz="14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" name="Google Shape;128;p9"/>
          <p:cNvSpPr/>
          <p:nvPr/>
        </p:nvSpPr>
        <p:spPr>
          <a:xfrm>
            <a:off x="640067" y="5595690"/>
            <a:ext cx="5028900" cy="45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 u="none" strike="noStrike">
                <a:solidFill>
                  <a:srgbClr val="212529"/>
                </a:solidFill>
                <a:latin typeface="Calibri"/>
                <a:ea typeface="Calibri"/>
                <a:cs typeface="Calibri"/>
                <a:sym typeface="Calibri"/>
              </a:rPr>
              <a:t>• Low compute overhead</a:t>
            </a:r>
            <a:endParaRPr b="0" sz="14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" name="Google Shape;129;p9"/>
          <p:cNvSpPr/>
          <p:nvPr/>
        </p:nvSpPr>
        <p:spPr>
          <a:xfrm>
            <a:off x="640067" y="6052890"/>
            <a:ext cx="5028900" cy="45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 u="none" strike="noStrike">
                <a:solidFill>
                  <a:srgbClr val="212529"/>
                </a:solidFill>
                <a:latin typeface="Calibri"/>
                <a:ea typeface="Calibri"/>
                <a:cs typeface="Calibri"/>
                <a:sym typeface="Calibri"/>
              </a:rPr>
              <a:t>• Suitable for prototype</a:t>
            </a:r>
            <a:endParaRPr b="0" sz="14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0" name="Google Shape;130;p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577493" y="1622205"/>
            <a:ext cx="6218235" cy="46636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10"/>
          <p:cNvSpPr/>
          <p:nvPr/>
        </p:nvSpPr>
        <p:spPr>
          <a:xfrm>
            <a:off x="457200" y="457200"/>
            <a:ext cx="11246700" cy="73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200" u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Technology Stack of RPDS</a:t>
            </a:r>
            <a:endParaRPr b="0" sz="32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" name="Google Shape;137;p10"/>
          <p:cNvSpPr/>
          <p:nvPr/>
        </p:nvSpPr>
        <p:spPr>
          <a:xfrm>
            <a:off x="457200" y="1188720"/>
            <a:ext cx="11246760" cy="45360"/>
          </a:xfrm>
          <a:prstGeom prst="rect">
            <a:avLst/>
          </a:prstGeom>
          <a:solidFill>
            <a:srgbClr val="F96167"/>
          </a:solidFill>
          <a:ln cap="flat" cmpd="sng" w="12700">
            <a:solidFill>
              <a:srgbClr val="F9616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00" lIns="90000" spcFirstLastPara="1" rIns="90000" wrap="square" tIns="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1800" u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8" name="Google Shape;138;p10"/>
          <p:cNvSpPr/>
          <p:nvPr/>
        </p:nvSpPr>
        <p:spPr>
          <a:xfrm>
            <a:off x="731520" y="1828800"/>
            <a:ext cx="2742840" cy="45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 u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IoT/Hardware</a:t>
            </a:r>
            <a:endParaRPr b="0" sz="15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" name="Google Shape;139;p10"/>
          <p:cNvSpPr/>
          <p:nvPr/>
        </p:nvSpPr>
        <p:spPr>
          <a:xfrm>
            <a:off x="3657600" y="1828800"/>
            <a:ext cx="7314840" cy="45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500" u="none" strike="noStrike">
                <a:solidFill>
                  <a:srgbClr val="212529"/>
                </a:solidFill>
                <a:latin typeface="Calibri"/>
                <a:ea typeface="Calibri"/>
                <a:cs typeface="Calibri"/>
                <a:sym typeface="Calibri"/>
              </a:rPr>
              <a:t>ESP32, MPU6050, GPS, OLED</a:t>
            </a:r>
            <a:endParaRPr b="0" sz="15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0" name="Google Shape;140;p10"/>
          <p:cNvSpPr/>
          <p:nvPr/>
        </p:nvSpPr>
        <p:spPr>
          <a:xfrm>
            <a:off x="731520" y="2468880"/>
            <a:ext cx="2742840" cy="45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 u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Backend</a:t>
            </a:r>
            <a:endParaRPr b="0" sz="15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1" name="Google Shape;141;p10"/>
          <p:cNvSpPr/>
          <p:nvPr/>
        </p:nvSpPr>
        <p:spPr>
          <a:xfrm>
            <a:off x="3657600" y="2468880"/>
            <a:ext cx="7314840" cy="45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500" u="none" strike="noStrike">
                <a:solidFill>
                  <a:srgbClr val="212529"/>
                </a:solidFill>
                <a:latin typeface="Calibri"/>
                <a:ea typeface="Calibri"/>
                <a:cs typeface="Calibri"/>
                <a:sym typeface="Calibri"/>
              </a:rPr>
              <a:t>Python, FastAPI</a:t>
            </a:r>
            <a:endParaRPr b="0" sz="15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" name="Google Shape;142;p10"/>
          <p:cNvSpPr/>
          <p:nvPr/>
        </p:nvSpPr>
        <p:spPr>
          <a:xfrm>
            <a:off x="731520" y="3108960"/>
            <a:ext cx="2742840" cy="45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 u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Database</a:t>
            </a:r>
            <a:endParaRPr b="0" sz="15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" name="Google Shape;143;p10"/>
          <p:cNvSpPr/>
          <p:nvPr/>
        </p:nvSpPr>
        <p:spPr>
          <a:xfrm>
            <a:off x="3657600" y="3108960"/>
            <a:ext cx="7314840" cy="45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500" u="none" strike="noStrike">
                <a:solidFill>
                  <a:srgbClr val="212529"/>
                </a:solidFill>
                <a:latin typeface="Calibri"/>
                <a:ea typeface="Calibri"/>
                <a:cs typeface="Calibri"/>
                <a:sym typeface="Calibri"/>
              </a:rPr>
              <a:t>Appwrite Cloud</a:t>
            </a:r>
            <a:endParaRPr b="0" sz="15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10"/>
          <p:cNvSpPr/>
          <p:nvPr/>
        </p:nvSpPr>
        <p:spPr>
          <a:xfrm>
            <a:off x="731520" y="3749040"/>
            <a:ext cx="2742840" cy="45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 u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Frontend</a:t>
            </a:r>
            <a:endParaRPr b="0" sz="15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5" name="Google Shape;145;p10"/>
          <p:cNvSpPr/>
          <p:nvPr/>
        </p:nvSpPr>
        <p:spPr>
          <a:xfrm>
            <a:off x="3657600" y="3749040"/>
            <a:ext cx="7314840" cy="45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212529"/>
                </a:solidFill>
                <a:latin typeface="Calibri"/>
                <a:ea typeface="Calibri"/>
                <a:cs typeface="Calibri"/>
                <a:sym typeface="Calibri"/>
              </a:rPr>
              <a:t>React</a:t>
            </a:r>
            <a:r>
              <a:rPr b="0" lang="en-US" sz="1500" u="none" strike="noStrike">
                <a:solidFill>
                  <a:srgbClr val="212529"/>
                </a:solidFill>
                <a:latin typeface="Calibri"/>
                <a:ea typeface="Calibri"/>
                <a:cs typeface="Calibri"/>
                <a:sym typeface="Calibri"/>
              </a:rPr>
              <a:t>, </a:t>
            </a:r>
            <a:r>
              <a:rPr lang="en-US" sz="1500">
                <a:solidFill>
                  <a:srgbClr val="212529"/>
                </a:solidFill>
                <a:latin typeface="Calibri"/>
                <a:ea typeface="Calibri"/>
                <a:cs typeface="Calibri"/>
                <a:sym typeface="Calibri"/>
              </a:rPr>
              <a:t>mapcn</a:t>
            </a:r>
            <a:r>
              <a:rPr b="0" lang="en-US" sz="1500" u="none" strike="noStrike">
                <a:solidFill>
                  <a:srgbClr val="212529"/>
                </a:solidFill>
                <a:latin typeface="Calibri"/>
                <a:ea typeface="Calibri"/>
                <a:cs typeface="Calibri"/>
                <a:sym typeface="Calibri"/>
              </a:rPr>
              <a:t>, tailwin</a:t>
            </a:r>
            <a:r>
              <a:rPr lang="en-US" sz="1500">
                <a:solidFill>
                  <a:srgbClr val="212529"/>
                </a:solidFill>
                <a:latin typeface="Calibri"/>
                <a:ea typeface="Calibri"/>
                <a:cs typeface="Calibri"/>
                <a:sym typeface="Calibri"/>
              </a:rPr>
              <a:t>d, Vite</a:t>
            </a:r>
            <a:endParaRPr b="0" sz="15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6" name="Google Shape;146;p10"/>
          <p:cNvSpPr/>
          <p:nvPr/>
        </p:nvSpPr>
        <p:spPr>
          <a:xfrm>
            <a:off x="731520" y="4389120"/>
            <a:ext cx="2742840" cy="45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 u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ML</a:t>
            </a:r>
            <a:endParaRPr b="0" sz="15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7" name="Google Shape;147;p10"/>
          <p:cNvSpPr/>
          <p:nvPr/>
        </p:nvSpPr>
        <p:spPr>
          <a:xfrm>
            <a:off x="3657600" y="4389120"/>
            <a:ext cx="7314840" cy="45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500" u="none" strike="noStrike">
                <a:solidFill>
                  <a:srgbClr val="212529"/>
                </a:solidFill>
                <a:latin typeface="Calibri"/>
                <a:ea typeface="Calibri"/>
                <a:cs typeface="Calibri"/>
                <a:sym typeface="Calibri"/>
              </a:rPr>
              <a:t>scikit-learn, Random Forest</a:t>
            </a:r>
            <a:endParaRPr b="0" sz="15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8" name="Google Shape;148;p10"/>
          <p:cNvSpPr/>
          <p:nvPr/>
        </p:nvSpPr>
        <p:spPr>
          <a:xfrm>
            <a:off x="731520" y="5029200"/>
            <a:ext cx="2742840" cy="45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 u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Comm.</a:t>
            </a:r>
            <a:endParaRPr b="0" sz="15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10"/>
          <p:cNvSpPr/>
          <p:nvPr/>
        </p:nvSpPr>
        <p:spPr>
          <a:xfrm>
            <a:off x="3657600" y="5029200"/>
            <a:ext cx="7314840" cy="45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500" u="none" strike="noStrike">
                <a:solidFill>
                  <a:srgbClr val="212529"/>
                </a:solidFill>
                <a:latin typeface="Calibri"/>
                <a:ea typeface="Calibri"/>
                <a:cs typeface="Calibri"/>
                <a:sym typeface="Calibri"/>
              </a:rPr>
              <a:t>Wi-Fi / 4G </a:t>
            </a:r>
            <a:r>
              <a:rPr lang="en-US" sz="1500">
                <a:solidFill>
                  <a:srgbClr val="212529"/>
                </a:solidFill>
                <a:latin typeface="Calibri"/>
                <a:ea typeface="Calibri"/>
                <a:cs typeface="Calibri"/>
                <a:sym typeface="Calibri"/>
              </a:rPr>
              <a:t>/ Bluetooth</a:t>
            </a:r>
            <a:endParaRPr b="0" sz="15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0" name="Google Shape;150;p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481750" y="1462863"/>
            <a:ext cx="2468876" cy="24688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51" name="Google Shape;151;p1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648825" y="1575200"/>
            <a:ext cx="1584725" cy="15847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2" name="Google Shape;152;p1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9573817" y="3501051"/>
            <a:ext cx="2012250" cy="1855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3" name="Google Shape;153;p1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831825" y="4010025"/>
            <a:ext cx="2190749" cy="21907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11"/>
          <p:cNvSpPr/>
          <p:nvPr/>
        </p:nvSpPr>
        <p:spPr>
          <a:xfrm>
            <a:off x="457200" y="457200"/>
            <a:ext cx="11246760" cy="731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200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Sample </a:t>
            </a:r>
            <a:r>
              <a:rPr b="1" lang="en-US" sz="3200" u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Dashboard &amp; Visualization</a:t>
            </a:r>
            <a:endParaRPr b="0" sz="32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0" name="Google Shape;160;p11"/>
          <p:cNvSpPr/>
          <p:nvPr/>
        </p:nvSpPr>
        <p:spPr>
          <a:xfrm>
            <a:off x="457200" y="1188720"/>
            <a:ext cx="11246760" cy="45360"/>
          </a:xfrm>
          <a:prstGeom prst="rect">
            <a:avLst/>
          </a:prstGeom>
          <a:solidFill>
            <a:srgbClr val="F96167"/>
          </a:solidFill>
          <a:ln cap="flat" cmpd="sng" w="12700">
            <a:solidFill>
              <a:srgbClr val="F9616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00" lIns="90000" spcFirstLastPara="1" rIns="90000" wrap="square" tIns="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1800" u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1" name="Google Shape;161;p11"/>
          <p:cNvSpPr/>
          <p:nvPr/>
        </p:nvSpPr>
        <p:spPr>
          <a:xfrm>
            <a:off x="457205" y="1367850"/>
            <a:ext cx="3438600" cy="44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71" u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Pothole Event JSON</a:t>
            </a:r>
            <a:endParaRPr b="0" sz="1571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2" name="Google Shape;162;p11"/>
          <p:cNvSpPr/>
          <p:nvPr/>
        </p:nvSpPr>
        <p:spPr>
          <a:xfrm>
            <a:off x="519728" y="1789902"/>
            <a:ext cx="3438600" cy="314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80" u="none" strike="noStrike">
                <a:solidFill>
                  <a:srgbClr val="212529"/>
                </a:solidFill>
                <a:latin typeface="Courier New"/>
                <a:ea typeface="Courier New"/>
                <a:cs typeface="Courier New"/>
                <a:sym typeface="Courier New"/>
              </a:rPr>
              <a:t>{</a:t>
            </a:r>
            <a:endParaRPr b="0" sz="108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3" name="Google Shape;163;p11"/>
          <p:cNvSpPr/>
          <p:nvPr/>
        </p:nvSpPr>
        <p:spPr>
          <a:xfrm>
            <a:off x="519728" y="2104228"/>
            <a:ext cx="3438600" cy="314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80" u="none" strike="noStrike">
                <a:solidFill>
                  <a:srgbClr val="212529"/>
                </a:solidFill>
                <a:latin typeface="Courier New"/>
                <a:ea typeface="Courier New"/>
                <a:cs typeface="Courier New"/>
                <a:sym typeface="Courier New"/>
              </a:rPr>
              <a:t>  "event": "pothole",</a:t>
            </a:r>
            <a:endParaRPr b="0" sz="108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4" name="Google Shape;164;p11"/>
          <p:cNvSpPr/>
          <p:nvPr/>
        </p:nvSpPr>
        <p:spPr>
          <a:xfrm>
            <a:off x="519728" y="2418554"/>
            <a:ext cx="3438600" cy="314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80" u="none" strike="noStrike">
                <a:solidFill>
                  <a:srgbClr val="212529"/>
                </a:solidFill>
                <a:latin typeface="Courier New"/>
                <a:ea typeface="Courier New"/>
                <a:cs typeface="Courier New"/>
                <a:sym typeface="Courier New"/>
              </a:rPr>
              <a:t>  "lat": 12.9716,</a:t>
            </a:r>
            <a:endParaRPr b="0" sz="108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5" name="Google Shape;165;p11"/>
          <p:cNvSpPr/>
          <p:nvPr/>
        </p:nvSpPr>
        <p:spPr>
          <a:xfrm>
            <a:off x="519728" y="2732880"/>
            <a:ext cx="3438600" cy="314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80" u="none" strike="noStrike">
                <a:solidFill>
                  <a:srgbClr val="212529"/>
                </a:solidFill>
                <a:latin typeface="Courier New"/>
                <a:ea typeface="Courier New"/>
                <a:cs typeface="Courier New"/>
                <a:sym typeface="Courier New"/>
              </a:rPr>
              <a:t>  "lon": 77.5946,</a:t>
            </a:r>
            <a:endParaRPr b="0" sz="108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11"/>
          <p:cNvSpPr/>
          <p:nvPr/>
        </p:nvSpPr>
        <p:spPr>
          <a:xfrm>
            <a:off x="519728" y="3047205"/>
            <a:ext cx="3438600" cy="314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80" u="none" strike="noStrike">
                <a:solidFill>
                  <a:srgbClr val="212529"/>
                </a:solidFill>
                <a:latin typeface="Courier New"/>
                <a:ea typeface="Courier New"/>
                <a:cs typeface="Courier New"/>
                <a:sym typeface="Courier New"/>
              </a:rPr>
              <a:t>  "severity": 0.82,</a:t>
            </a:r>
            <a:endParaRPr b="0" sz="108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7" name="Google Shape;167;p11"/>
          <p:cNvSpPr/>
          <p:nvPr/>
        </p:nvSpPr>
        <p:spPr>
          <a:xfrm>
            <a:off x="519728" y="3361531"/>
            <a:ext cx="3438600" cy="314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80" u="none" strike="noStrike">
                <a:solidFill>
                  <a:srgbClr val="212529"/>
                </a:solidFill>
                <a:latin typeface="Courier New"/>
                <a:ea typeface="Courier New"/>
                <a:cs typeface="Courier New"/>
                <a:sym typeface="Courier New"/>
              </a:rPr>
              <a:t>  "speed": 32,</a:t>
            </a:r>
            <a:endParaRPr b="0" sz="108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8" name="Google Shape;168;p11"/>
          <p:cNvSpPr/>
          <p:nvPr/>
        </p:nvSpPr>
        <p:spPr>
          <a:xfrm>
            <a:off x="519728" y="3675857"/>
            <a:ext cx="3438600" cy="314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80" u="none" strike="noStrike">
                <a:solidFill>
                  <a:srgbClr val="212529"/>
                </a:solidFill>
                <a:latin typeface="Courier New"/>
                <a:ea typeface="Courier New"/>
                <a:cs typeface="Courier New"/>
                <a:sym typeface="Courier New"/>
              </a:rPr>
              <a:t>  "timestamp": "2026-10-04T21:00:00"</a:t>
            </a:r>
            <a:endParaRPr b="0" sz="108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9" name="Google Shape;169;p11"/>
          <p:cNvSpPr/>
          <p:nvPr/>
        </p:nvSpPr>
        <p:spPr>
          <a:xfrm>
            <a:off x="519728" y="3990183"/>
            <a:ext cx="3438600" cy="314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80" u="none" strike="noStrike">
                <a:solidFill>
                  <a:srgbClr val="212529"/>
                </a:solidFill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b="0" sz="108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0" name="Google Shape;170;p11"/>
          <p:cNvSpPr/>
          <p:nvPr/>
        </p:nvSpPr>
        <p:spPr>
          <a:xfrm>
            <a:off x="457200" y="4304476"/>
            <a:ext cx="3438600" cy="44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71" u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Features</a:t>
            </a:r>
            <a:endParaRPr b="0" sz="1571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1" name="Google Shape;171;p11"/>
          <p:cNvSpPr/>
          <p:nvPr/>
        </p:nvSpPr>
        <p:spPr>
          <a:xfrm>
            <a:off x="457192" y="4753463"/>
            <a:ext cx="5028900" cy="45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 u="none" strike="noStrike">
                <a:solidFill>
                  <a:srgbClr val="212529"/>
                </a:solidFill>
                <a:latin typeface="Calibri"/>
                <a:ea typeface="Calibri"/>
                <a:cs typeface="Calibri"/>
                <a:sym typeface="Calibri"/>
              </a:rPr>
              <a:t>• Real-time location plotting</a:t>
            </a:r>
            <a:endParaRPr b="0" sz="14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2" name="Google Shape;172;p11"/>
          <p:cNvSpPr/>
          <p:nvPr/>
        </p:nvSpPr>
        <p:spPr>
          <a:xfrm>
            <a:off x="457192" y="5210663"/>
            <a:ext cx="5028900" cy="45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 u="none" strike="noStrike">
                <a:solidFill>
                  <a:srgbClr val="212529"/>
                </a:solidFill>
                <a:latin typeface="Calibri"/>
                <a:ea typeface="Calibri"/>
                <a:cs typeface="Calibri"/>
                <a:sym typeface="Calibri"/>
              </a:rPr>
              <a:t>• Historical data view</a:t>
            </a:r>
            <a:endParaRPr b="0" sz="14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3" name="Google Shape;173;p11"/>
          <p:cNvSpPr/>
          <p:nvPr/>
        </p:nvSpPr>
        <p:spPr>
          <a:xfrm>
            <a:off x="457192" y="5667863"/>
            <a:ext cx="5028900" cy="45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 u="none" strike="noStrike">
                <a:solidFill>
                  <a:srgbClr val="212529"/>
                </a:solidFill>
                <a:latin typeface="Calibri"/>
                <a:ea typeface="Calibri"/>
                <a:cs typeface="Calibri"/>
                <a:sym typeface="Calibri"/>
              </a:rPr>
              <a:t>• Date/Severity filtering</a:t>
            </a:r>
            <a:endParaRPr b="0" sz="14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4" name="Google Shape;174;p11"/>
          <p:cNvSpPr/>
          <p:nvPr/>
        </p:nvSpPr>
        <p:spPr>
          <a:xfrm>
            <a:off x="457192" y="6125063"/>
            <a:ext cx="5028900" cy="45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 u="none" strike="noStrike">
                <a:solidFill>
                  <a:srgbClr val="212529"/>
                </a:solidFill>
                <a:latin typeface="Calibri"/>
                <a:ea typeface="Calibri"/>
                <a:cs typeface="Calibri"/>
                <a:sym typeface="Calibri"/>
              </a:rPr>
              <a:t>• Interactive map UI</a:t>
            </a:r>
            <a:endParaRPr b="0" sz="14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5" name="Google Shape;175;p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958325" y="1383607"/>
            <a:ext cx="7745625" cy="519836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"/>
          <p:cNvSpPr/>
          <p:nvPr/>
        </p:nvSpPr>
        <p:spPr>
          <a:xfrm>
            <a:off x="457200" y="457200"/>
            <a:ext cx="11246760" cy="731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200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Major </a:t>
            </a:r>
            <a:r>
              <a:rPr b="1" lang="en-US" sz="3200" u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Advantages of RPDS</a:t>
            </a:r>
            <a:endParaRPr b="0" sz="32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2" name="Google Shape;182;p12"/>
          <p:cNvSpPr/>
          <p:nvPr/>
        </p:nvSpPr>
        <p:spPr>
          <a:xfrm>
            <a:off x="457200" y="1188720"/>
            <a:ext cx="11246760" cy="45360"/>
          </a:xfrm>
          <a:prstGeom prst="rect">
            <a:avLst/>
          </a:prstGeom>
          <a:solidFill>
            <a:srgbClr val="F96167"/>
          </a:solidFill>
          <a:ln cap="flat" cmpd="sng" w="12700">
            <a:solidFill>
              <a:srgbClr val="F9616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00" lIns="90000" spcFirstLastPara="1" rIns="90000" wrap="square" tIns="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1800" u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3" name="Google Shape;183;p12"/>
          <p:cNvSpPr/>
          <p:nvPr/>
        </p:nvSpPr>
        <p:spPr>
          <a:xfrm>
            <a:off x="731520" y="1828800"/>
            <a:ext cx="10515240" cy="548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600" u="none" strike="noStrike">
                <a:solidFill>
                  <a:srgbClr val="212529"/>
                </a:solidFill>
                <a:latin typeface="Calibri"/>
                <a:ea typeface="Calibri"/>
                <a:cs typeface="Calibri"/>
                <a:sym typeface="Calibri"/>
              </a:rPr>
              <a:t>• Low-cost &amp; affordable solution</a:t>
            </a:r>
            <a:endParaRPr b="0" sz="16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4" name="Google Shape;184;p12"/>
          <p:cNvSpPr/>
          <p:nvPr/>
        </p:nvSpPr>
        <p:spPr>
          <a:xfrm>
            <a:off x="731520" y="2468880"/>
            <a:ext cx="10515240" cy="548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600" u="none" strike="noStrike">
                <a:solidFill>
                  <a:srgbClr val="212529"/>
                </a:solidFill>
                <a:latin typeface="Calibri"/>
                <a:ea typeface="Calibri"/>
                <a:cs typeface="Calibri"/>
                <a:sym typeface="Calibri"/>
              </a:rPr>
              <a:t>• Automated &amp; real-time detection</a:t>
            </a:r>
            <a:endParaRPr b="0" sz="16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5" name="Google Shape;185;p12"/>
          <p:cNvSpPr/>
          <p:nvPr/>
        </p:nvSpPr>
        <p:spPr>
          <a:xfrm>
            <a:off x="731520" y="3108960"/>
            <a:ext cx="10515240" cy="548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600" u="none" strike="noStrike">
                <a:solidFill>
                  <a:srgbClr val="212529"/>
                </a:solidFill>
                <a:latin typeface="Calibri"/>
                <a:ea typeface="Calibri"/>
                <a:cs typeface="Calibri"/>
                <a:sym typeface="Calibri"/>
              </a:rPr>
              <a:t>• Accurate GPS tagging</a:t>
            </a:r>
            <a:endParaRPr b="0" sz="16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6" name="Google Shape;186;p12"/>
          <p:cNvSpPr/>
          <p:nvPr/>
        </p:nvSpPr>
        <p:spPr>
          <a:xfrm>
            <a:off x="731520" y="3749040"/>
            <a:ext cx="10515240" cy="548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600" u="none" strike="noStrike">
                <a:solidFill>
                  <a:srgbClr val="212529"/>
                </a:solidFill>
                <a:latin typeface="Calibri"/>
                <a:ea typeface="Calibri"/>
                <a:cs typeface="Calibri"/>
                <a:sym typeface="Calibri"/>
              </a:rPr>
              <a:t>• Scalable IoT architecture</a:t>
            </a:r>
            <a:endParaRPr b="0" sz="16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7" name="Google Shape;187;p12"/>
          <p:cNvSpPr/>
          <p:nvPr/>
        </p:nvSpPr>
        <p:spPr>
          <a:xfrm>
            <a:off x="731520" y="4389120"/>
            <a:ext cx="10515240" cy="548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600" u="none" strike="noStrike">
                <a:solidFill>
                  <a:srgbClr val="212529"/>
                </a:solidFill>
                <a:latin typeface="Calibri"/>
                <a:ea typeface="Calibri"/>
                <a:cs typeface="Calibri"/>
                <a:sym typeface="Calibri"/>
              </a:rPr>
              <a:t>• Improves with more data</a:t>
            </a:r>
            <a:endParaRPr b="0" sz="16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12"/>
          <p:cNvSpPr/>
          <p:nvPr/>
        </p:nvSpPr>
        <p:spPr>
          <a:xfrm>
            <a:off x="731520" y="5029200"/>
            <a:ext cx="10515240" cy="548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600" u="none" strike="noStrike">
                <a:solidFill>
                  <a:srgbClr val="212529"/>
                </a:solidFill>
                <a:latin typeface="Calibri"/>
                <a:ea typeface="Calibri"/>
                <a:cs typeface="Calibri"/>
                <a:sym typeface="Calibri"/>
              </a:rPr>
              <a:t>• Practical for smart city applications</a:t>
            </a:r>
            <a:endParaRPr b="0" sz="16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13"/>
          <p:cNvSpPr/>
          <p:nvPr/>
        </p:nvSpPr>
        <p:spPr>
          <a:xfrm>
            <a:off x="457200" y="457200"/>
            <a:ext cx="11246760" cy="731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200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Major </a:t>
            </a:r>
            <a:r>
              <a:rPr b="1" lang="en-US" sz="3200" u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Challenges &amp; Future Scope</a:t>
            </a:r>
            <a:endParaRPr b="0" sz="32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13"/>
          <p:cNvSpPr/>
          <p:nvPr/>
        </p:nvSpPr>
        <p:spPr>
          <a:xfrm>
            <a:off x="457200" y="1188720"/>
            <a:ext cx="11246760" cy="45360"/>
          </a:xfrm>
          <a:prstGeom prst="rect">
            <a:avLst/>
          </a:prstGeom>
          <a:solidFill>
            <a:srgbClr val="F96167"/>
          </a:solidFill>
          <a:ln cap="flat" cmpd="sng" w="12700">
            <a:solidFill>
              <a:srgbClr val="F9616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00" lIns="90000" spcFirstLastPara="1" rIns="90000" wrap="square" tIns="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1800" u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13"/>
          <p:cNvSpPr/>
          <p:nvPr/>
        </p:nvSpPr>
        <p:spPr>
          <a:xfrm>
            <a:off x="731520" y="1443025"/>
            <a:ext cx="5028900" cy="45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 u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Challenges</a:t>
            </a:r>
            <a:endParaRPr b="0" sz="16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7" name="Google Shape;197;p13"/>
          <p:cNvSpPr/>
          <p:nvPr/>
        </p:nvSpPr>
        <p:spPr>
          <a:xfrm>
            <a:off x="822960" y="1900225"/>
            <a:ext cx="5028900" cy="45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 u="none" strike="noStrike">
                <a:solidFill>
                  <a:srgbClr val="212529"/>
                </a:solidFill>
                <a:latin typeface="Calibri"/>
                <a:ea typeface="Calibri"/>
                <a:cs typeface="Calibri"/>
                <a:sym typeface="Calibri"/>
              </a:rPr>
              <a:t>• False positives</a:t>
            </a:r>
            <a:endParaRPr b="0" sz="14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8" name="Google Shape;198;p13"/>
          <p:cNvSpPr/>
          <p:nvPr/>
        </p:nvSpPr>
        <p:spPr>
          <a:xfrm>
            <a:off x="822960" y="2357425"/>
            <a:ext cx="5028900" cy="45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 u="none" strike="noStrike">
                <a:solidFill>
                  <a:srgbClr val="212529"/>
                </a:solidFill>
                <a:latin typeface="Calibri"/>
                <a:ea typeface="Calibri"/>
                <a:cs typeface="Calibri"/>
                <a:sym typeface="Calibri"/>
              </a:rPr>
              <a:t>• Vehicle variations</a:t>
            </a:r>
            <a:endParaRPr b="0" sz="14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9" name="Google Shape;199;p13"/>
          <p:cNvSpPr/>
          <p:nvPr/>
        </p:nvSpPr>
        <p:spPr>
          <a:xfrm>
            <a:off x="822960" y="2814625"/>
            <a:ext cx="5028900" cy="45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 u="none" strike="noStrike">
                <a:solidFill>
                  <a:srgbClr val="212529"/>
                </a:solidFill>
                <a:latin typeface="Calibri"/>
                <a:ea typeface="Calibri"/>
                <a:cs typeface="Calibri"/>
                <a:sym typeface="Calibri"/>
              </a:rPr>
              <a:t>• GPS accuracy</a:t>
            </a:r>
            <a:endParaRPr b="0" sz="14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" name="Google Shape;200;p13"/>
          <p:cNvSpPr/>
          <p:nvPr/>
        </p:nvSpPr>
        <p:spPr>
          <a:xfrm>
            <a:off x="822960" y="3271825"/>
            <a:ext cx="5028900" cy="45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 u="none" strike="noStrike">
                <a:solidFill>
                  <a:srgbClr val="212529"/>
                </a:solidFill>
                <a:latin typeface="Calibri"/>
                <a:ea typeface="Calibri"/>
                <a:cs typeface="Calibri"/>
                <a:sym typeface="Calibri"/>
              </a:rPr>
              <a:t>• Limited training data</a:t>
            </a:r>
            <a:endParaRPr b="0" sz="14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13"/>
          <p:cNvSpPr/>
          <p:nvPr/>
        </p:nvSpPr>
        <p:spPr>
          <a:xfrm>
            <a:off x="731525" y="3729025"/>
            <a:ext cx="5028900" cy="45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 u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Future Scope</a:t>
            </a:r>
            <a:endParaRPr b="0" sz="16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" name="Google Shape;202;p13"/>
          <p:cNvSpPr/>
          <p:nvPr/>
        </p:nvSpPr>
        <p:spPr>
          <a:xfrm>
            <a:off x="822955" y="4186225"/>
            <a:ext cx="5028900" cy="45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 u="none" strike="noStrike">
                <a:solidFill>
                  <a:srgbClr val="212529"/>
                </a:solidFill>
                <a:latin typeface="Calibri"/>
                <a:ea typeface="Calibri"/>
                <a:cs typeface="Calibri"/>
                <a:sym typeface="Calibri"/>
              </a:rPr>
              <a:t>• Camera + YOLO (Sensor Fusion)</a:t>
            </a:r>
            <a:endParaRPr b="0" sz="14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" name="Google Shape;203;p13"/>
          <p:cNvSpPr/>
          <p:nvPr/>
        </p:nvSpPr>
        <p:spPr>
          <a:xfrm>
            <a:off x="822955" y="4643425"/>
            <a:ext cx="5028900" cy="45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 u="none" strike="noStrike">
                <a:solidFill>
                  <a:srgbClr val="212529"/>
                </a:solidFill>
                <a:latin typeface="Calibri"/>
                <a:ea typeface="Calibri"/>
                <a:cs typeface="Calibri"/>
                <a:sym typeface="Calibri"/>
              </a:rPr>
              <a:t>• Edge AI optimization</a:t>
            </a:r>
            <a:endParaRPr b="0" sz="14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" name="Google Shape;204;p13"/>
          <p:cNvSpPr/>
          <p:nvPr/>
        </p:nvSpPr>
        <p:spPr>
          <a:xfrm>
            <a:off x="822955" y="5100625"/>
            <a:ext cx="5028900" cy="45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 u="none" strike="noStrike">
                <a:solidFill>
                  <a:srgbClr val="212529"/>
                </a:solidFill>
                <a:latin typeface="Calibri"/>
                <a:ea typeface="Calibri"/>
                <a:cs typeface="Calibri"/>
                <a:sym typeface="Calibri"/>
              </a:rPr>
              <a:t>• Crowdsourced reporting</a:t>
            </a:r>
            <a:endParaRPr b="0" sz="14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5" name="Google Shape;205;p13"/>
          <p:cNvSpPr/>
          <p:nvPr/>
        </p:nvSpPr>
        <p:spPr>
          <a:xfrm>
            <a:off x="822955" y="5557825"/>
            <a:ext cx="5028900" cy="45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 u="none" strike="noStrike">
                <a:solidFill>
                  <a:srgbClr val="212529"/>
                </a:solidFill>
                <a:latin typeface="Calibri"/>
                <a:ea typeface="Calibri"/>
                <a:cs typeface="Calibri"/>
                <a:sym typeface="Calibri"/>
              </a:rPr>
              <a:t>• Road quality heatmaps</a:t>
            </a:r>
            <a:endParaRPr b="0" sz="14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6" name="Google Shape;206;p13"/>
          <p:cNvSpPr/>
          <p:nvPr/>
        </p:nvSpPr>
        <p:spPr>
          <a:xfrm>
            <a:off x="822955" y="6015025"/>
            <a:ext cx="5028900" cy="45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 u="none" strike="noStrike">
                <a:solidFill>
                  <a:srgbClr val="212529"/>
                </a:solidFill>
                <a:latin typeface="Calibri"/>
                <a:ea typeface="Calibri"/>
                <a:cs typeface="Calibri"/>
                <a:sym typeface="Calibri"/>
              </a:rPr>
              <a:t>• </a:t>
            </a:r>
            <a:r>
              <a:rPr lang="en-US">
                <a:solidFill>
                  <a:srgbClr val="212529"/>
                </a:solidFill>
                <a:latin typeface="Calibri"/>
                <a:ea typeface="Calibri"/>
                <a:cs typeface="Calibri"/>
                <a:sym typeface="Calibri"/>
              </a:rPr>
              <a:t>Log to Government</a:t>
            </a:r>
            <a:endParaRPr b="0" sz="14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7" name="Google Shape;207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00002" y="1497813"/>
            <a:ext cx="3868666" cy="2176124"/>
          </a:xfrm>
          <a:prstGeom prst="rect">
            <a:avLst/>
          </a:prstGeom>
          <a:noFill/>
          <a:ln>
            <a:noFill/>
          </a:ln>
        </p:spPr>
      </p:pic>
      <p:pic>
        <p:nvPicPr>
          <p:cNvPr id="208" name="Google Shape;208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935542" y="3729021"/>
            <a:ext cx="3768399" cy="2874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4"/>
          <p:cNvSpPr/>
          <p:nvPr/>
        </p:nvSpPr>
        <p:spPr>
          <a:xfrm>
            <a:off x="457200" y="457200"/>
            <a:ext cx="11246760" cy="731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200" u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Conclusion</a:t>
            </a:r>
            <a:endParaRPr b="0" sz="32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5" name="Google Shape;215;p14"/>
          <p:cNvSpPr/>
          <p:nvPr/>
        </p:nvSpPr>
        <p:spPr>
          <a:xfrm>
            <a:off x="457200" y="1188720"/>
            <a:ext cx="11246760" cy="45360"/>
          </a:xfrm>
          <a:prstGeom prst="rect">
            <a:avLst/>
          </a:prstGeom>
          <a:solidFill>
            <a:srgbClr val="F96167"/>
          </a:solidFill>
          <a:ln cap="flat" cmpd="sng" w="12700">
            <a:solidFill>
              <a:srgbClr val="F9616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00" lIns="90000" spcFirstLastPara="1" rIns="90000" wrap="square" tIns="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1800" u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6" name="Google Shape;216;p14"/>
          <p:cNvSpPr/>
          <p:nvPr/>
        </p:nvSpPr>
        <p:spPr>
          <a:xfrm>
            <a:off x="731520" y="2011680"/>
            <a:ext cx="10515240" cy="45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600" u="none" strike="noStrike">
                <a:solidFill>
                  <a:srgbClr val="212529"/>
                </a:solidFill>
                <a:latin typeface="Calibri"/>
                <a:ea typeface="Calibri"/>
                <a:cs typeface="Calibri"/>
                <a:sym typeface="Calibri"/>
              </a:rPr>
              <a:t>• Combines IoT sensors, GPS, ML &amp; mapping effectively</a:t>
            </a:r>
            <a:endParaRPr b="0" sz="16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7" name="Google Shape;217;p14"/>
          <p:cNvSpPr/>
          <p:nvPr/>
        </p:nvSpPr>
        <p:spPr>
          <a:xfrm>
            <a:off x="731520" y="2560320"/>
            <a:ext cx="10515240" cy="45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600" u="none" strike="noStrike">
                <a:solidFill>
                  <a:srgbClr val="212529"/>
                </a:solidFill>
                <a:latin typeface="Calibri"/>
                <a:ea typeface="Calibri"/>
                <a:cs typeface="Calibri"/>
                <a:sym typeface="Calibri"/>
              </a:rPr>
              <a:t>• Cost-effective solution for road condition monitoring</a:t>
            </a:r>
            <a:endParaRPr b="0" sz="16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8" name="Google Shape;218;p14"/>
          <p:cNvSpPr/>
          <p:nvPr/>
        </p:nvSpPr>
        <p:spPr>
          <a:xfrm>
            <a:off x="731520" y="3108960"/>
            <a:ext cx="10515240" cy="45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600" u="none" strike="noStrike">
                <a:solidFill>
                  <a:srgbClr val="212529"/>
                </a:solidFill>
                <a:latin typeface="Calibri"/>
                <a:ea typeface="Calibri"/>
                <a:cs typeface="Calibri"/>
                <a:sym typeface="Calibri"/>
              </a:rPr>
              <a:t>• Enables proactive road maintenance</a:t>
            </a:r>
            <a:endParaRPr b="0" sz="16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9" name="Google Shape;219;p14"/>
          <p:cNvSpPr/>
          <p:nvPr/>
        </p:nvSpPr>
        <p:spPr>
          <a:xfrm>
            <a:off x="731520" y="3657600"/>
            <a:ext cx="10515240" cy="45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600" u="none" strike="noStrike">
                <a:solidFill>
                  <a:srgbClr val="212529"/>
                </a:solidFill>
                <a:latin typeface="Calibri"/>
                <a:ea typeface="Calibri"/>
                <a:cs typeface="Calibri"/>
                <a:sym typeface="Calibri"/>
              </a:rPr>
              <a:t>• Scalable with clear enhancement path</a:t>
            </a:r>
            <a:endParaRPr b="0" sz="16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" name="Google Shape;220;p14"/>
          <p:cNvSpPr/>
          <p:nvPr/>
        </p:nvSpPr>
        <p:spPr>
          <a:xfrm>
            <a:off x="731520" y="4206240"/>
            <a:ext cx="10515240" cy="45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600" u="none" strike="noStrike">
                <a:solidFill>
                  <a:srgbClr val="212529"/>
                </a:solidFill>
                <a:latin typeface="Calibri"/>
                <a:ea typeface="Calibri"/>
                <a:cs typeface="Calibri"/>
                <a:sym typeface="Calibri"/>
              </a:rPr>
              <a:t>• Start simple → Collect data → Improve continuously</a:t>
            </a:r>
            <a:endParaRPr b="0" sz="16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E2761"/>
        </a:solidFill>
      </p:bgPr>
    </p:bg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15"/>
          <p:cNvSpPr/>
          <p:nvPr/>
        </p:nvSpPr>
        <p:spPr>
          <a:xfrm>
            <a:off x="457200" y="2743200"/>
            <a:ext cx="11246760" cy="914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4800" u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Thank You</a:t>
            </a:r>
            <a:endParaRPr b="0" sz="4800" u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