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6A1D7D2-40D5-4EFD-B80E-9919FF78A51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873975-02CF-4A85-AFFB-E445CFAA65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66D367-B784-4B21-AE12-EEB4054F7B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6FAA59-2ACD-4976-8808-540BEB461F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F2DBFC-D607-4FD1-B96F-F84CDF96DA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41F4A2-C58D-4BF2-BF7A-5CE6BDBA52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C0C237-4C9B-4713-9264-974C4F8A68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476742-6C05-48C7-8C93-4215F5C93B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CEB5EB-0ED2-45E6-B76E-ED71DB94BF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B1B42B-72CA-414C-953C-F5F70B1E2C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DD4A90-B825-4C62-ABA4-2EA3834E87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C40B697-0FE0-4083-B90B-7B2BD10EBB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A05186-137D-44DA-A3C8-0485CF4FE7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6F62E95-8CD3-45F5-9417-52C2011E940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ED1EDB-882D-4BAF-8E45-4ABAA76F28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AD7DBB-68E3-4DB6-8094-FCC3AF598E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72680" y="2880720"/>
            <a:ext cx="112467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Road Pothole </a:t>
            </a: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Detection System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457200" y="36576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00"/>
                </a:solidFill>
                <a:effectLst/>
                <a:uFillTx/>
                <a:latin typeface="Times New Roman"/>
              </a:rPr>
              <a:t>IoT + AI Based Smart Road Monitoring Device</a:t>
            </a:r>
            <a:endParaRPr lang="en-US" sz="2000" b="0" u="none" strike="noStrike">
              <a:solidFill>
                <a:srgbClr val="FFFF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Problem Statement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731520" y="182880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Potholes pose serious safety risks to vehicles and road users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731520" y="246888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Manual inspection is slow, costly, and difficult to scale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731520" y="310896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Many potholes go unreported until accidents occur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731520" y="374904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Need for automated, real-time road condition monitoring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731520" y="475488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96167"/>
                </a:solidFill>
                <a:effectLst/>
                <a:uFillTx/>
                <a:latin typeface="Calibri"/>
              </a:rPr>
              <a:t>Goal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7"/>
          <p:cNvSpPr/>
          <p:nvPr/>
        </p:nvSpPr>
        <p:spPr>
          <a:xfrm>
            <a:off x="731520" y="530352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Build a low-cost prototype to detect potholes, record GPS location, estimate severity &amp; visualize on map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Objectives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73152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Detect potholes using vehicle vibration data (MPU6050)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731520" y="23774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Capture precise location using GPS module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731520" y="292608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Transmit detection events to backend server via Wi-Fi/4G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731520" y="347472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Visualize pothole locations on interactive digital map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731520" y="40233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Classify potholes by severity using ML techniques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731520" y="45720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Reduce false detections through signal processing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Proposed Architecture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"/>
          <p:cNvSpPr/>
          <p:nvPr/>
        </p:nvSpPr>
        <p:spPr>
          <a:xfrm>
            <a:off x="73152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Vehicle-mounted IoT system detects road anomalies through acceleration spikes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3"/>
          <p:cNvSpPr/>
          <p:nvPr/>
        </p:nvSpPr>
        <p:spPr>
          <a:xfrm>
            <a:off x="1371600" y="2560320"/>
            <a:ext cx="1828440" cy="639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1371600" y="274320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Vehicle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5"/>
          <p:cNvSpPr/>
          <p:nvPr/>
        </p:nvSpPr>
        <p:spPr>
          <a:xfrm>
            <a:off x="3200400" y="2880360"/>
            <a:ext cx="457200" cy="360"/>
          </a:xfrm>
          <a:prstGeom prst="line">
            <a:avLst/>
          </a:prstGeom>
          <a:ln w="19050">
            <a:solidFill>
              <a:srgbClr val="1E2761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3657600" y="2560320"/>
            <a:ext cx="1828440" cy="639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3657600" y="274320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MPU6050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8"/>
          <p:cNvSpPr/>
          <p:nvPr/>
        </p:nvSpPr>
        <p:spPr>
          <a:xfrm>
            <a:off x="5486400" y="2880360"/>
            <a:ext cx="457200" cy="360"/>
          </a:xfrm>
          <a:prstGeom prst="line">
            <a:avLst/>
          </a:prstGeom>
          <a:ln w="19050">
            <a:solidFill>
              <a:srgbClr val="1E2761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9"/>
          <p:cNvSpPr/>
          <p:nvPr/>
        </p:nvSpPr>
        <p:spPr>
          <a:xfrm>
            <a:off x="5943600" y="2560320"/>
            <a:ext cx="1645560" cy="639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0"/>
          <p:cNvSpPr/>
          <p:nvPr/>
        </p:nvSpPr>
        <p:spPr>
          <a:xfrm>
            <a:off x="5943600" y="274320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ESP32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1"/>
          <p:cNvSpPr/>
          <p:nvPr/>
        </p:nvSpPr>
        <p:spPr>
          <a:xfrm>
            <a:off x="7589520" y="2880360"/>
            <a:ext cx="457200" cy="360"/>
          </a:xfrm>
          <a:prstGeom prst="line">
            <a:avLst/>
          </a:prstGeom>
          <a:ln w="19050">
            <a:solidFill>
              <a:srgbClr val="1E2761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2"/>
          <p:cNvSpPr/>
          <p:nvPr/>
        </p:nvSpPr>
        <p:spPr>
          <a:xfrm>
            <a:off x="8046720" y="2560320"/>
            <a:ext cx="1645560" cy="639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3"/>
          <p:cNvSpPr/>
          <p:nvPr/>
        </p:nvSpPr>
        <p:spPr>
          <a:xfrm>
            <a:off x="8046720" y="274320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GPS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4"/>
          <p:cNvSpPr/>
          <p:nvPr/>
        </p:nvSpPr>
        <p:spPr>
          <a:xfrm>
            <a:off x="6766560" y="3200400"/>
            <a:ext cx="360" cy="731520"/>
          </a:xfrm>
          <a:prstGeom prst="line">
            <a:avLst/>
          </a:prstGeom>
          <a:ln w="19050">
            <a:solidFill>
              <a:srgbClr val="1E2761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5"/>
          <p:cNvSpPr/>
          <p:nvPr/>
        </p:nvSpPr>
        <p:spPr>
          <a:xfrm>
            <a:off x="5943600" y="3931920"/>
            <a:ext cx="1828440" cy="639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6"/>
          <p:cNvSpPr/>
          <p:nvPr/>
        </p:nvSpPr>
        <p:spPr>
          <a:xfrm>
            <a:off x="5943600" y="411480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Wi-Fi/4G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7"/>
          <p:cNvSpPr/>
          <p:nvPr/>
        </p:nvSpPr>
        <p:spPr>
          <a:xfrm>
            <a:off x="6766560" y="4572000"/>
            <a:ext cx="360" cy="731520"/>
          </a:xfrm>
          <a:prstGeom prst="line">
            <a:avLst/>
          </a:prstGeom>
          <a:ln w="19050">
            <a:solidFill>
              <a:srgbClr val="1E2761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8"/>
          <p:cNvSpPr/>
          <p:nvPr/>
        </p:nvSpPr>
        <p:spPr>
          <a:xfrm>
            <a:off x="5760720" y="5303520"/>
            <a:ext cx="2011320" cy="639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9"/>
          <p:cNvSpPr/>
          <p:nvPr/>
        </p:nvSpPr>
        <p:spPr>
          <a:xfrm>
            <a:off x="5760720" y="548640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FastAPI Server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0"/>
          <p:cNvSpPr/>
          <p:nvPr/>
        </p:nvSpPr>
        <p:spPr>
          <a:xfrm>
            <a:off x="4846320" y="5623560"/>
            <a:ext cx="914400" cy="360"/>
          </a:xfrm>
          <a:prstGeom prst="line">
            <a:avLst/>
          </a:prstGeom>
          <a:ln w="19050">
            <a:solidFill>
              <a:srgbClr val="1E2761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1"/>
          <p:cNvSpPr/>
          <p:nvPr/>
        </p:nvSpPr>
        <p:spPr>
          <a:xfrm>
            <a:off x="3200400" y="5303520"/>
            <a:ext cx="1645560" cy="639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2"/>
          <p:cNvSpPr/>
          <p:nvPr/>
        </p:nvSpPr>
        <p:spPr>
          <a:xfrm>
            <a:off x="3200400" y="548640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Database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3"/>
          <p:cNvSpPr/>
          <p:nvPr/>
        </p:nvSpPr>
        <p:spPr>
          <a:xfrm>
            <a:off x="7772400" y="5623560"/>
            <a:ext cx="914400" cy="360"/>
          </a:xfrm>
          <a:prstGeom prst="line">
            <a:avLst/>
          </a:prstGeom>
          <a:ln w="19050">
            <a:solidFill>
              <a:srgbClr val="1E2761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4"/>
          <p:cNvSpPr/>
          <p:nvPr/>
        </p:nvSpPr>
        <p:spPr>
          <a:xfrm>
            <a:off x="8686800" y="5303520"/>
            <a:ext cx="1828440" cy="639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5"/>
          <p:cNvSpPr/>
          <p:nvPr/>
        </p:nvSpPr>
        <p:spPr>
          <a:xfrm>
            <a:off x="8686800" y="548640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Dashboard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Hardware Components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6" name="Table 0"/>
          <p:cNvGraphicFramePr/>
          <p:nvPr/>
        </p:nvGraphicFramePr>
        <p:xfrm>
          <a:off x="731520" y="1828800"/>
          <a:ext cx="10515240" cy="3657240"/>
        </p:xfrm>
        <a:graphic>
          <a:graphicData uri="http://schemas.openxmlformats.org/drawingml/2006/table">
            <a:tbl>
              <a:tblPr/>
              <a:tblGrid>
                <a:gridCol w="2743200"/>
                <a:gridCol w="7772400"/>
              </a:tblGrid>
              <a:tr h="522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Component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Purpose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2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ESP32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Main Microcontroller &amp; Wi-Fi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2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MPU6050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3-Axis Accelerometer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2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NEO-6M GPS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Location Tracking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2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OLED Display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Status Display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2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Buzzer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Local Alert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2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Power Bank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212529"/>
                          </a:solidFill>
                          <a:effectLst/>
                          <a:uFillTx/>
                          <a:latin typeface="Calibri"/>
                        </a:rPr>
                        <a:t>Portable Power Supply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E2761"/>
                      </a:solidFill>
                      <a:prstDash val="solid"/>
                    </a:lnL>
                    <a:lnR w="12240">
                      <a:solidFill>
                        <a:srgbClr val="1E2761"/>
                      </a:solidFill>
                      <a:prstDash val="solid"/>
                    </a:lnR>
                    <a:lnT w="12240">
                      <a:solidFill>
                        <a:srgbClr val="1E2761"/>
                      </a:solidFill>
                      <a:prstDash val="solid"/>
                    </a:lnT>
                    <a:lnB w="12240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Working Principle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73152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Detects sudden changes in vertical acceleration (Z-axis)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/>
          <p:cNvSpPr/>
          <p:nvPr/>
        </p:nvSpPr>
        <p:spPr>
          <a:xfrm>
            <a:off x="731520" y="25603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Detection Axes: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914400" y="30175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X-axis: Longitudinal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914400" y="33832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Y-axis: Lateral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914400" y="37490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Z-axis: Vertical (Critical)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5486400" y="3474720"/>
            <a:ext cx="5029200" cy="360"/>
          </a:xfrm>
          <a:prstGeom prst="line">
            <a:avLst/>
          </a:prstGeom>
          <a:ln w="25400">
            <a:solidFill>
              <a:srgbClr val="1E2761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5486400" y="3840480"/>
            <a:ext cx="5029200" cy="360"/>
          </a:xfrm>
          <a:prstGeom prst="line">
            <a:avLst/>
          </a:prstGeom>
          <a:ln w="381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5486400" y="310896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Normal Road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7772400" y="393192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96167"/>
                </a:solidFill>
                <a:effectLst/>
                <a:uFillTx/>
                <a:latin typeface="Calibri"/>
              </a:rPr>
              <a:t>Pothole Spike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31520" y="475488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False Positive Sources: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914400" y="5212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Speed breakers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914400" y="55778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Braking/Acceleration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914400" y="59436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Rough roads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914400" y="63093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Sharp turns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Algorithm Flow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73152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1. Sensor Data Acquisition (100 Hz)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3"/>
          <p:cNvSpPr/>
          <p:nvPr/>
        </p:nvSpPr>
        <p:spPr>
          <a:xfrm>
            <a:off x="731520" y="22860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2. Noise Filtering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731520" y="27432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3. Compute Magnitude: √(ax²+ay²+az²)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731520" y="32004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4. Sliding Window Analysis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731520" y="36576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5. Feature Extraction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7"/>
          <p:cNvSpPr/>
          <p:nvPr/>
        </p:nvSpPr>
        <p:spPr>
          <a:xfrm>
            <a:off x="731520" y="4114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6. ML Classification (RF)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731520" y="45720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7. GPS Tagging &amp; Transmission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Data &amp; ML Approach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731520" y="18288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Dataset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731520" y="22860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12529"/>
                </a:solidFill>
                <a:effectLst/>
                <a:uFillTx/>
                <a:latin typeface="Courier New"/>
                <a:ea typeface="Courier New"/>
              </a:rPr>
              <a:t>timestamp, ax, ay, az, speed, lat, lon, label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"/>
          <p:cNvSpPr/>
          <p:nvPr/>
        </p:nvSpPr>
        <p:spPr>
          <a:xfrm>
            <a:off x="731520" y="29260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NORMAL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731520" y="329184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POTHOLE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731520" y="36576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SPEED BREAKER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731520" y="402336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ROUGH ROAD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8"/>
          <p:cNvSpPr/>
          <p:nvPr/>
        </p:nvSpPr>
        <p:spPr>
          <a:xfrm>
            <a:off x="6400800" y="18288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96167"/>
                </a:solidFill>
                <a:effectLst/>
                <a:uFillTx/>
                <a:latin typeface="Calibri"/>
              </a:rPr>
              <a:t>ML Model: Random Forest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6583680" y="237744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Small dataset friendly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0"/>
          <p:cNvSpPr/>
          <p:nvPr/>
        </p:nvSpPr>
        <p:spPr>
          <a:xfrm>
            <a:off x="6583680" y="283464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Fast &amp; interpretable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1"/>
          <p:cNvSpPr/>
          <p:nvPr/>
        </p:nvSpPr>
        <p:spPr>
          <a:xfrm>
            <a:off x="6583680" y="329184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Low compute overhead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2"/>
          <p:cNvSpPr/>
          <p:nvPr/>
        </p:nvSpPr>
        <p:spPr>
          <a:xfrm>
            <a:off x="6583680" y="374904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Suitable for prototype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Technology Stack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731520" y="18288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IoT/Hardware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"/>
          <p:cNvSpPr/>
          <p:nvPr/>
        </p:nvSpPr>
        <p:spPr>
          <a:xfrm>
            <a:off x="3657600" y="182880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ESP32, MPU6050, GPS, OLED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731520" y="24688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Backend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3657600" y="246888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Python, FastAPI, REST API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731520" y="310896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Database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3657600" y="310896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Appwrite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731520" y="37490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Frontend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9"/>
          <p:cNvSpPr/>
          <p:nvPr/>
        </p:nvSpPr>
        <p:spPr>
          <a:xfrm>
            <a:off x="3657600" y="374904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React.js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731520" y="43891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1"/>
          <p:cNvSpPr/>
          <p:nvPr/>
        </p:nvSpPr>
        <p:spPr>
          <a:xfrm>
            <a:off x="3657600" y="438912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scikit-learn,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2"/>
          <p:cNvSpPr/>
          <p:nvPr/>
        </p:nvSpPr>
        <p:spPr>
          <a:xfrm>
            <a:off x="731520" y="50292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Comm.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3"/>
          <p:cNvSpPr/>
          <p:nvPr/>
        </p:nvSpPr>
        <p:spPr>
          <a:xfrm>
            <a:off x="3657600" y="502920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Wi-Fi / 4G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Dashboard &amp; Visualization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"/>
          <p:cNvSpPr/>
          <p:nvPr/>
        </p:nvSpPr>
        <p:spPr>
          <a:xfrm>
            <a:off x="731520" y="18288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Pothole Event JSON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"/>
          <p:cNvSpPr/>
          <p:nvPr/>
        </p:nvSpPr>
        <p:spPr>
          <a:xfrm>
            <a:off x="822960" y="228600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12529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4"/>
          <p:cNvSpPr/>
          <p:nvPr/>
        </p:nvSpPr>
        <p:spPr>
          <a:xfrm>
            <a:off x="822960" y="26060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12529"/>
                </a:solidFill>
                <a:effectLst/>
                <a:uFillTx/>
                <a:latin typeface="Courier New"/>
                <a:ea typeface="Courier New"/>
              </a:rPr>
              <a:t>  "event": "pothole",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5"/>
          <p:cNvSpPr/>
          <p:nvPr/>
        </p:nvSpPr>
        <p:spPr>
          <a:xfrm>
            <a:off x="822960" y="292608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12529"/>
                </a:solidFill>
                <a:effectLst/>
                <a:uFillTx/>
                <a:latin typeface="Courier New"/>
                <a:ea typeface="Courier New"/>
              </a:rPr>
              <a:t>  "lat": 12.9716,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6"/>
          <p:cNvSpPr/>
          <p:nvPr/>
        </p:nvSpPr>
        <p:spPr>
          <a:xfrm>
            <a:off x="822960" y="324612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12529"/>
                </a:solidFill>
                <a:effectLst/>
                <a:uFillTx/>
                <a:latin typeface="Courier New"/>
                <a:ea typeface="Courier New"/>
              </a:rPr>
              <a:t>  "lon": 77.5946,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7"/>
          <p:cNvSpPr/>
          <p:nvPr/>
        </p:nvSpPr>
        <p:spPr>
          <a:xfrm>
            <a:off x="822960" y="356616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12529"/>
                </a:solidFill>
                <a:effectLst/>
                <a:uFillTx/>
                <a:latin typeface="Courier New"/>
                <a:ea typeface="Courier New"/>
              </a:rPr>
              <a:t>  "severity": 0.82,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8"/>
          <p:cNvSpPr/>
          <p:nvPr/>
        </p:nvSpPr>
        <p:spPr>
          <a:xfrm>
            <a:off x="822960" y="388620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12529"/>
                </a:solidFill>
                <a:effectLst/>
                <a:uFillTx/>
                <a:latin typeface="Courier New"/>
                <a:ea typeface="Courier New"/>
              </a:rPr>
              <a:t>  "speed": 32,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9"/>
          <p:cNvSpPr/>
          <p:nvPr/>
        </p:nvSpPr>
        <p:spPr>
          <a:xfrm>
            <a:off x="822960" y="42062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12529"/>
                </a:solidFill>
                <a:effectLst/>
                <a:uFillTx/>
                <a:latin typeface="Courier New"/>
                <a:ea typeface="Courier New"/>
              </a:rPr>
              <a:t>  "timestamp": "2026-10-04T21:00:00"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0"/>
          <p:cNvSpPr/>
          <p:nvPr/>
        </p:nvSpPr>
        <p:spPr>
          <a:xfrm>
            <a:off x="822960" y="452628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12529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1"/>
          <p:cNvSpPr/>
          <p:nvPr/>
        </p:nvSpPr>
        <p:spPr>
          <a:xfrm>
            <a:off x="6400800" y="18288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Map Features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2"/>
          <p:cNvSpPr/>
          <p:nvPr/>
        </p:nvSpPr>
        <p:spPr>
          <a:xfrm>
            <a:off x="6583680" y="22860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Severity-based color markers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3"/>
          <p:cNvSpPr/>
          <p:nvPr/>
        </p:nvSpPr>
        <p:spPr>
          <a:xfrm>
            <a:off x="6583680" y="27432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Real-time location plotting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4"/>
          <p:cNvSpPr/>
          <p:nvPr/>
        </p:nvSpPr>
        <p:spPr>
          <a:xfrm>
            <a:off x="6583680" y="32004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Historical data view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5"/>
          <p:cNvSpPr/>
          <p:nvPr/>
        </p:nvSpPr>
        <p:spPr>
          <a:xfrm>
            <a:off x="6583680" y="36576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Date/Severity filtering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6"/>
          <p:cNvSpPr/>
          <p:nvPr/>
        </p:nvSpPr>
        <p:spPr>
          <a:xfrm>
            <a:off x="6583680" y="41148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Interactive map UI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7"/>
          <p:cNvSpPr/>
          <p:nvPr/>
        </p:nvSpPr>
        <p:spPr>
          <a:xfrm>
            <a:off x="731520" y="530352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Severity Legend:  🔴 High   🟠 Medium   🟡 Low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Project Timeline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731520" y="182880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Phase 1 (Week 1-2)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5029200" y="182880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Hardware Setup &amp; Sensor Testing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731520" y="242316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Phase 2 (Week 3-4)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5029200" y="242316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Data Collection &amp; Labeling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731520" y="301752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Phase 3 (Week 5)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7"/>
          <p:cNvSpPr/>
          <p:nvPr/>
        </p:nvSpPr>
        <p:spPr>
          <a:xfrm>
            <a:off x="5029200" y="301752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GPS Integration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731520" y="361188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Phase 4 (Week 6)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9"/>
          <p:cNvSpPr/>
          <p:nvPr/>
        </p:nvSpPr>
        <p:spPr>
          <a:xfrm>
            <a:off x="5029200" y="361188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Backend Development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0"/>
          <p:cNvSpPr/>
          <p:nvPr/>
        </p:nvSpPr>
        <p:spPr>
          <a:xfrm>
            <a:off x="731520" y="420624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Phase 5 (Week 7)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1"/>
          <p:cNvSpPr/>
          <p:nvPr/>
        </p:nvSpPr>
        <p:spPr>
          <a:xfrm>
            <a:off x="5029200" y="420624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ML Model Training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2"/>
          <p:cNvSpPr/>
          <p:nvPr/>
        </p:nvSpPr>
        <p:spPr>
          <a:xfrm>
            <a:off x="731520" y="480060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Phase 6 (Week 8)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3"/>
          <p:cNvSpPr/>
          <p:nvPr/>
        </p:nvSpPr>
        <p:spPr>
          <a:xfrm>
            <a:off x="5029200" y="480060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Dashboard &amp; Testing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Advantages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"/>
          <p:cNvSpPr/>
          <p:nvPr/>
        </p:nvSpPr>
        <p:spPr>
          <a:xfrm>
            <a:off x="731520" y="182880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Low-cost &amp; affordable solution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3"/>
          <p:cNvSpPr/>
          <p:nvPr/>
        </p:nvSpPr>
        <p:spPr>
          <a:xfrm>
            <a:off x="731520" y="246888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Automated &amp; real-time detection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4"/>
          <p:cNvSpPr/>
          <p:nvPr/>
        </p:nvSpPr>
        <p:spPr>
          <a:xfrm>
            <a:off x="731520" y="310896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Accurate GPS tagging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5"/>
          <p:cNvSpPr/>
          <p:nvPr/>
        </p:nvSpPr>
        <p:spPr>
          <a:xfrm>
            <a:off x="731520" y="374904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Scalable IoT architecture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6"/>
          <p:cNvSpPr/>
          <p:nvPr/>
        </p:nvSpPr>
        <p:spPr>
          <a:xfrm>
            <a:off x="731520" y="438912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Improves with more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7"/>
          <p:cNvSpPr/>
          <p:nvPr/>
        </p:nvSpPr>
        <p:spPr>
          <a:xfrm>
            <a:off x="731520" y="502920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Practical for smart city applications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Challenges &amp; Future Scope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731520" y="18288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Challenges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822960" y="22860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False positives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822960" y="27432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Vehicle variations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5"/>
          <p:cNvSpPr/>
          <p:nvPr/>
        </p:nvSpPr>
        <p:spPr>
          <a:xfrm>
            <a:off x="822960" y="32004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GPS accuracy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822960" y="36576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Limited training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6400800" y="18288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Future Scope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8"/>
          <p:cNvSpPr/>
          <p:nvPr/>
        </p:nvSpPr>
        <p:spPr>
          <a:xfrm>
            <a:off x="6583680" y="22860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Camera + YOLO (Sensor Fusion)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6583680" y="27432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Edge AI optimization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0"/>
          <p:cNvSpPr/>
          <p:nvPr/>
        </p:nvSpPr>
        <p:spPr>
          <a:xfrm>
            <a:off x="6583680" y="32004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Crowdsourced reporting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1"/>
          <p:cNvSpPr/>
          <p:nvPr/>
        </p:nvSpPr>
        <p:spPr>
          <a:xfrm>
            <a:off x="6583680" y="36576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Road quality heatmaps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6583680" y="411480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Smart city integration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2761"/>
                </a:solidFill>
                <a:effectLst/>
                <a:uFillTx/>
                <a:latin typeface="Calibri"/>
              </a:rPr>
              <a:t>Conclusion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731520" y="201168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Combines IoT sensors, GPS, ML &amp; mapping effectively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"/>
          <p:cNvSpPr/>
          <p:nvPr/>
        </p:nvSpPr>
        <p:spPr>
          <a:xfrm>
            <a:off x="731520" y="256032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Cost-effective solution for road condition monitoring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731520" y="3108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Enables proactive road maintenance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731520" y="36576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Scalable with clear enhancement path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731520" y="42062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529"/>
                </a:solidFill>
                <a:effectLst/>
                <a:uFillTx/>
                <a:latin typeface="Calibri"/>
              </a:rPr>
              <a:t>• Start simple → Collect data → Improve continuously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457200" y="2743200"/>
            <a:ext cx="112467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Thank You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457200" y="41148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9ECEF"/>
                </a:solidFill>
                <a:effectLst/>
                <a:uFillTx/>
                <a:latin typeface="Calibri"/>
              </a:rPr>
              <a:t>Questions &amp; Discussion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LibreOffice/26.2.5.2$Linux_X86_64 LibreOffice_project/6d2b0d33fb0f5da53a12f98bed3e9973e56ff1f0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2026-10-04T17:34:38Z</dcterms:created>
  <dc:creator>PptxGenJS</dc:creator>
  <dc:description/>
  <dc:language>en-US</dc:language>
  <cp:lastModifiedBy/>
  <dcterms:modified xsi:type="dcterms:W3CDTF">2026-10-04T23:24:15Z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On-screen Show (16:9)</vt:lpwstr>
  </property>
  <property fmtid="{D5CDD505-2E9C-101B-9397-08002B2CF9AE}" pid="4" name="Slides">
    <vt:i4>15</vt:i4>
  </property>
</Properties>
</file>